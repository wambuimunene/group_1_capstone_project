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75" r:id="rId2"/>
    <p:sldId id="257" r:id="rId3"/>
    <p:sldId id="259" r:id="rId4"/>
    <p:sldId id="263" r:id="rId5"/>
    <p:sldId id="277" r:id="rId6"/>
    <p:sldId id="278" r:id="rId7"/>
    <p:sldId id="279" r:id="rId8"/>
    <p:sldId id="260" r:id="rId9"/>
    <p:sldId id="280" r:id="rId10"/>
    <p:sldId id="262" r:id="rId11"/>
    <p:sldId id="282" r:id="rId12"/>
    <p:sldId id="281" r:id="rId13"/>
    <p:sldId id="283" r:id="rId14"/>
    <p:sldId id="284" r:id="rId15"/>
    <p:sldId id="272" r:id="rId16"/>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Consolas" panose="020B0609020204030204" pitchFamily="49" charset="0"/>
      <p:regular r:id="rId22"/>
      <p:bold r:id="rId23"/>
      <p:italic r:id="rId24"/>
      <p:boldItalic r:id="rId25"/>
    </p:embeddedFont>
    <p:embeddedFont>
      <p:font typeface="KoHo" panose="020B0604020202020204" charset="-34"/>
      <p:regular r:id="rId26"/>
      <p:bold r:id="rId27"/>
      <p:italic r:id="rId28"/>
      <p:boldItalic r:id="rId29"/>
    </p:embeddedFont>
    <p:embeddedFont>
      <p:font typeface="Paytone One" panose="020B0604020202020204"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7" autoAdjust="0"/>
    <p:restoredTop sz="86441" autoAdjust="0"/>
  </p:normalViewPr>
  <p:slideViewPr>
    <p:cSldViewPr snapToGrid="0">
      <p:cViewPr varScale="1">
        <p:scale>
          <a:sx n="42" d="100"/>
          <a:sy n="42" d="100"/>
        </p:scale>
        <p:origin x="52" y="16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6698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6837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5980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55E10B8C-C713-5A5A-9F86-7DADADA1C25C}"/>
            </a:ext>
          </a:extLst>
        </p:cNvPr>
        <p:cNvGrpSpPr/>
        <p:nvPr/>
      </p:nvGrpSpPr>
      <p:grpSpPr>
        <a:xfrm>
          <a:off x="0" y="0"/>
          <a:ext cx="0" cy="0"/>
          <a:chOff x="0" y="0"/>
          <a:chExt cx="0" cy="0"/>
        </a:xfrm>
      </p:grpSpPr>
      <p:sp>
        <p:nvSpPr>
          <p:cNvPr id="191" name="Google Shape;191;p7:notes">
            <a:extLst>
              <a:ext uri="{FF2B5EF4-FFF2-40B4-BE49-F238E27FC236}">
                <a16:creationId xmlns:a16="http://schemas.microsoft.com/office/drawing/2014/main" id="{35DE4678-67B4-77D8-EA53-793A6759A2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7:notes">
            <a:extLst>
              <a:ext uri="{FF2B5EF4-FFF2-40B4-BE49-F238E27FC236}">
                <a16:creationId xmlns:a16="http://schemas.microsoft.com/office/drawing/2014/main" id="{A7F67206-719D-EC18-3F24-DE8999BFCC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1710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5119F3-2769-456D-8D2A-CBEA7E5BA48D}"/>
              </a:ext>
            </a:extLst>
          </p:cNvPr>
          <p:cNvPicPr>
            <a:picLocks noChangeAspect="1"/>
          </p:cNvPicPr>
          <p:nvPr/>
        </p:nvPicPr>
        <p:blipFill>
          <a:blip r:embed="rId2"/>
          <a:stretch>
            <a:fillRect/>
          </a:stretch>
        </p:blipFill>
        <p:spPr>
          <a:xfrm>
            <a:off x="1762012" y="2032563"/>
            <a:ext cx="14491447" cy="8062592"/>
          </a:xfrm>
          <a:prstGeom prst="rect">
            <a:avLst/>
          </a:prstGeom>
        </p:spPr>
      </p:pic>
      <p:sp>
        <p:nvSpPr>
          <p:cNvPr id="5" name="TextBox 4">
            <a:extLst>
              <a:ext uri="{FF2B5EF4-FFF2-40B4-BE49-F238E27FC236}">
                <a16:creationId xmlns:a16="http://schemas.microsoft.com/office/drawing/2014/main" id="{D3B68D3D-214B-418C-A055-701BD409D5D1}"/>
              </a:ext>
            </a:extLst>
          </p:cNvPr>
          <p:cNvSpPr txBox="1"/>
          <p:nvPr/>
        </p:nvSpPr>
        <p:spPr>
          <a:xfrm>
            <a:off x="1503056" y="-15241"/>
            <a:ext cx="14491447" cy="1938992"/>
          </a:xfrm>
          <a:prstGeom prst="rect">
            <a:avLst/>
          </a:prstGeom>
          <a:noFill/>
        </p:spPr>
        <p:txBody>
          <a:bodyPr wrap="square" rtlCol="0">
            <a:spAutoFit/>
          </a:bodyPr>
          <a:lstStyle/>
          <a:p>
            <a:pPr algn="ctr"/>
            <a:r>
              <a:rPr lang="en-US" sz="6600" b="1" i="1" dirty="0">
                <a:solidFill>
                  <a:schemeClr val="tx1"/>
                </a:solidFill>
                <a:effectLst/>
                <a:latin typeface="-apple-system"/>
              </a:rPr>
              <a:t>   	 </a:t>
            </a:r>
            <a:r>
              <a:rPr lang="en-US" sz="4000" b="1" i="1" dirty="0">
                <a:solidFill>
                  <a:schemeClr val="tx1"/>
                </a:solidFill>
                <a:effectLst/>
                <a:latin typeface="+mj-lt"/>
              </a:rPr>
              <a:t>What Say </a:t>
            </a:r>
            <a:r>
              <a:rPr lang="en-US" sz="4000" b="1" i="1" dirty="0">
                <a:solidFill>
                  <a:schemeClr val="tx1"/>
                </a:solidFill>
                <a:latin typeface="+mj-lt"/>
              </a:rPr>
              <a:t>You? </a:t>
            </a:r>
          </a:p>
          <a:p>
            <a:pPr algn="ctr"/>
            <a:r>
              <a:rPr lang="en-US" sz="4000" b="1" i="1" dirty="0">
                <a:solidFill>
                  <a:schemeClr val="tx1"/>
                </a:solidFill>
                <a:latin typeface="+mj-lt"/>
              </a:rPr>
              <a:t>An </a:t>
            </a:r>
            <a:r>
              <a:rPr lang="en-US" sz="4000" b="1" i="1" dirty="0">
                <a:solidFill>
                  <a:schemeClr val="tx1"/>
                </a:solidFill>
                <a:effectLst/>
                <a:latin typeface="+mj-lt"/>
                <a:cs typeface="KoHo" panose="020B0604020202020204" charset="-34"/>
              </a:rPr>
              <a:t>Amazon Prime Video Sentiment Analysis</a:t>
            </a:r>
          </a:p>
          <a:p>
            <a:endParaRPr lang="en-US" dirty="0"/>
          </a:p>
        </p:txBody>
      </p:sp>
      <p:pic>
        <p:nvPicPr>
          <p:cNvPr id="7" name="Picture 6">
            <a:extLst>
              <a:ext uri="{FF2B5EF4-FFF2-40B4-BE49-F238E27FC236}">
                <a16:creationId xmlns:a16="http://schemas.microsoft.com/office/drawing/2014/main" id="{8003920F-016A-4984-BF2F-4116BD4586CF}"/>
              </a:ext>
            </a:extLst>
          </p:cNvPr>
          <p:cNvPicPr>
            <a:picLocks noChangeAspect="1"/>
          </p:cNvPicPr>
          <p:nvPr/>
        </p:nvPicPr>
        <p:blipFill>
          <a:blip r:embed="rId3"/>
          <a:stretch>
            <a:fillRect/>
          </a:stretch>
        </p:blipFill>
        <p:spPr>
          <a:xfrm>
            <a:off x="-3768161" y="-235000"/>
            <a:ext cx="6061658" cy="1713280"/>
          </a:xfrm>
          <a:prstGeom prst="rect">
            <a:avLst/>
          </a:prstGeom>
        </p:spPr>
      </p:pic>
      <p:pic>
        <p:nvPicPr>
          <p:cNvPr id="3" name="Picture 2">
            <a:extLst>
              <a:ext uri="{FF2B5EF4-FFF2-40B4-BE49-F238E27FC236}">
                <a16:creationId xmlns:a16="http://schemas.microsoft.com/office/drawing/2014/main" id="{20864795-F116-4369-BB3A-6E210B4A6B11}"/>
              </a:ext>
            </a:extLst>
          </p:cNvPr>
          <p:cNvPicPr>
            <a:picLocks noChangeAspect="1"/>
          </p:cNvPicPr>
          <p:nvPr/>
        </p:nvPicPr>
        <p:blipFill>
          <a:blip r:embed="rId4"/>
          <a:stretch>
            <a:fillRect/>
          </a:stretch>
        </p:blipFill>
        <p:spPr>
          <a:xfrm>
            <a:off x="16383000" y="191845"/>
            <a:ext cx="1831580" cy="1550399"/>
          </a:xfrm>
          <a:prstGeom prst="rect">
            <a:avLst/>
          </a:prstGeom>
        </p:spPr>
      </p:pic>
    </p:spTree>
    <p:extLst>
      <p:ext uri="{BB962C8B-B14F-4D97-AF65-F5344CB8AC3E}">
        <p14:creationId xmlns:p14="http://schemas.microsoft.com/office/powerpoint/2010/main" val="1592249651"/>
      </p:ext>
    </p:extLst>
  </p:cSld>
  <p:clrMapOvr>
    <a:masterClrMapping/>
  </p:clrMapOvr>
  <p:transition spd="slow">
    <p:comb/>
  </p:transition>
</p:sld>
</file>

<file path=ppt/slides/slide2.xml><?xml version="1.0" encoding="utf-8"?>
<p:sld xmlns:a="http://schemas.openxmlformats.org/drawingml/2006/main" xmlns:r="http://schemas.openxmlformats.org/officeDocument/2006/relationships" xmlns:p="http://schemas.openxmlformats.org/presentationml/2006/main">
  <p:cSld>
    <p:bg>
      <p:bgPr>
        <a:pattFill prst="ltDnDiag">
          <a:fgClr>
            <a:schemeClr val="tx2"/>
          </a:fgClr>
          <a:bgClr>
            <a:schemeClr val="bg1"/>
          </a:bgClr>
        </a:pattFill>
        <a:effectLst/>
      </p:bgPr>
    </p:bg>
    <p:spTree>
      <p:nvGrpSpPr>
        <p:cNvPr id="1" name="Shape 93"/>
        <p:cNvGrpSpPr/>
        <p:nvPr/>
      </p:nvGrpSpPr>
      <p:grpSpPr>
        <a:xfrm>
          <a:off x="0" y="0"/>
          <a:ext cx="0" cy="0"/>
          <a:chOff x="0" y="0"/>
          <a:chExt cx="0" cy="0"/>
        </a:xfrm>
      </p:grpSpPr>
      <p:grpSp>
        <p:nvGrpSpPr>
          <p:cNvPr id="94" name="Google Shape;94;p14"/>
          <p:cNvGrpSpPr/>
          <p:nvPr/>
        </p:nvGrpSpPr>
        <p:grpSpPr>
          <a:xfrm>
            <a:off x="0" y="-279489"/>
            <a:ext cx="18288000" cy="3473336"/>
            <a:chOff x="0" y="-66675"/>
            <a:chExt cx="4816593" cy="914788"/>
          </a:xfrm>
          <a:solidFill>
            <a:schemeClr val="accent5">
              <a:lumMod val="75000"/>
            </a:schemeClr>
          </a:solidFill>
        </p:grpSpPr>
        <p:sp>
          <p:nvSpPr>
            <p:cNvPr id="95" name="Google Shape;95;p14"/>
            <p:cNvSpPr/>
            <p:nvPr/>
          </p:nvSpPr>
          <p:spPr>
            <a:xfrm>
              <a:off x="0" y="0"/>
              <a:ext cx="4816592" cy="848113"/>
            </a:xfrm>
            <a:custGeom>
              <a:avLst/>
              <a:gdLst/>
              <a:ahLst/>
              <a:cxnLst/>
              <a:rect l="l" t="t" r="r" b="b"/>
              <a:pathLst>
                <a:path w="4816592" h="848113" extrusionOk="0">
                  <a:moveTo>
                    <a:pt x="0" y="0"/>
                  </a:moveTo>
                  <a:lnTo>
                    <a:pt x="4816592" y="0"/>
                  </a:lnTo>
                  <a:lnTo>
                    <a:pt x="4816592" y="848113"/>
                  </a:lnTo>
                  <a:lnTo>
                    <a:pt x="0" y="848113"/>
                  </a:lnTo>
                  <a:close/>
                </a:path>
              </a:pathLst>
            </a:custGeom>
            <a:grpFill/>
            <a:ln>
              <a:noFill/>
            </a:ln>
          </p:spPr>
          <p:txBody>
            <a:bodyPr/>
            <a:lstStyle/>
            <a:p>
              <a:endParaRPr lang="en-US"/>
            </a:p>
          </p:txBody>
        </p:sp>
        <p:sp>
          <p:nvSpPr>
            <p:cNvPr id="96" name="Google Shape;96;p14"/>
            <p:cNvSpPr txBox="1"/>
            <p:nvPr/>
          </p:nvSpPr>
          <p:spPr>
            <a:xfrm>
              <a:off x="0" y="-66675"/>
              <a:ext cx="4816593" cy="914788"/>
            </a:xfrm>
            <a:prstGeom prst="rect">
              <a:avLst/>
            </a:prstGeom>
            <a:grpFill/>
            <a:ln>
              <a:noFill/>
            </a:ln>
          </p:spPr>
          <p:txBody>
            <a:bodyPr spcFirstLastPara="1" wrap="square" lIns="50800" tIns="50800" rIns="50800" bIns="50800" anchor="ctr" anchorCtr="0">
              <a:noAutofit/>
            </a:bodyPr>
            <a:lstStyle/>
            <a:p>
              <a:pPr marL="0" marR="0" lvl="0" indent="0" algn="ctr" rtl="0">
                <a:lnSpc>
                  <a:spcPct val="1881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7" name="Google Shape;97;p14"/>
          <p:cNvSpPr txBox="1"/>
          <p:nvPr/>
        </p:nvSpPr>
        <p:spPr>
          <a:xfrm>
            <a:off x="1028700" y="979357"/>
            <a:ext cx="15709900" cy="1703223"/>
          </a:xfrm>
          <a:prstGeom prst="rect">
            <a:avLst/>
          </a:prstGeom>
          <a:noFill/>
          <a:ln>
            <a:noFill/>
          </a:ln>
        </p:spPr>
        <p:txBody>
          <a:bodyPr spcFirstLastPara="1" wrap="square" lIns="0" tIns="0" rIns="0" bIns="0" anchor="t" anchorCtr="0">
            <a:spAutoFit/>
          </a:bodyPr>
          <a:lstStyle/>
          <a:p>
            <a:pPr marL="0" marR="0" lvl="0" indent="0" algn="just" rtl="0">
              <a:lnSpc>
                <a:spcPct val="100000"/>
              </a:lnSpc>
              <a:spcBef>
                <a:spcPts val="0"/>
              </a:spcBef>
              <a:spcAft>
                <a:spcPts val="0"/>
              </a:spcAft>
              <a:buNone/>
            </a:pPr>
            <a:r>
              <a:rPr lang="en-US" sz="11068" dirty="0">
                <a:solidFill>
                  <a:srgbClr val="FFFDFC"/>
                </a:solidFill>
                <a:latin typeface="Paytone One"/>
                <a:sym typeface="Paytone One"/>
              </a:rPr>
              <a:t>PROBLEM STATEMENT</a:t>
            </a:r>
            <a:endParaRPr lang="en-US" dirty="0"/>
          </a:p>
        </p:txBody>
      </p:sp>
      <p:sp>
        <p:nvSpPr>
          <p:cNvPr id="98" name="Google Shape;98;p14"/>
          <p:cNvSpPr txBox="1"/>
          <p:nvPr/>
        </p:nvSpPr>
        <p:spPr>
          <a:xfrm>
            <a:off x="147485" y="3516100"/>
            <a:ext cx="8234516" cy="4761303"/>
          </a:xfrm>
          <a:prstGeom prst="rect">
            <a:avLst/>
          </a:prstGeom>
          <a:noFill/>
          <a:ln>
            <a:noFill/>
          </a:ln>
        </p:spPr>
        <p:txBody>
          <a:bodyPr spcFirstLastPara="1" wrap="square" lIns="0" tIns="0" rIns="0" bIns="0" anchor="t" anchorCtr="0">
            <a:spAutoFit/>
          </a:bodyPr>
          <a:lstStyle/>
          <a:p>
            <a:pPr marL="0" marR="0" lvl="0" indent="0" algn="just" rtl="0">
              <a:lnSpc>
                <a:spcPct val="130010"/>
              </a:lnSpc>
              <a:spcBef>
                <a:spcPts val="0"/>
              </a:spcBef>
              <a:spcAft>
                <a:spcPts val="0"/>
              </a:spcAft>
              <a:buNone/>
            </a:pPr>
            <a:r>
              <a:rPr lang="en-US" sz="7200" b="1" dirty="0">
                <a:latin typeface="KoHo" panose="020B0604020202020204" charset="-34"/>
                <a:cs typeface="KoHo" panose="020B0604020202020204" charset="-34"/>
              </a:rPr>
              <a:t>The Challenge</a:t>
            </a:r>
          </a:p>
          <a:p>
            <a:pPr marL="0" marR="0" lvl="0" indent="0" algn="just" rtl="0">
              <a:lnSpc>
                <a:spcPct val="130010"/>
              </a:lnSpc>
              <a:spcBef>
                <a:spcPts val="0"/>
              </a:spcBef>
              <a:spcAft>
                <a:spcPts val="0"/>
              </a:spcAft>
              <a:buNone/>
            </a:pPr>
            <a:endParaRPr lang="en-US" sz="900" b="1" dirty="0">
              <a:latin typeface="KoHo" panose="020B0604020202020204" charset="-34"/>
              <a:cs typeface="KoHo" panose="020B0604020202020204" charset="-34"/>
            </a:endParaRPr>
          </a:p>
          <a:p>
            <a:pPr marR="0" lvl="0" rtl="0">
              <a:lnSpc>
                <a:spcPct val="130010"/>
              </a:lnSpc>
              <a:spcBef>
                <a:spcPts val="0"/>
              </a:spcBef>
              <a:spcAft>
                <a:spcPts val="0"/>
              </a:spcAft>
            </a:pPr>
            <a:r>
              <a:rPr lang="en-US" sz="3600" dirty="0">
                <a:latin typeface="+mj-lt"/>
                <a:cs typeface="KoHo" panose="020B0604020202020204" charset="-34"/>
              </a:rPr>
              <a:t>The streaming industry is highly competitive. The challenge is maintaining and growing subscribers while delivering content tailored to audience preferences.</a:t>
            </a:r>
          </a:p>
          <a:p>
            <a:pPr marR="0" lvl="0" algn="just" rtl="0">
              <a:lnSpc>
                <a:spcPct val="130010"/>
              </a:lnSpc>
              <a:spcBef>
                <a:spcPts val="0"/>
              </a:spcBef>
              <a:spcAft>
                <a:spcPts val="0"/>
              </a:spcAft>
            </a:pPr>
            <a:endParaRPr sz="1300" dirty="0"/>
          </a:p>
        </p:txBody>
      </p:sp>
      <p:sp>
        <p:nvSpPr>
          <p:cNvPr id="11" name="TextBox 10">
            <a:extLst>
              <a:ext uri="{FF2B5EF4-FFF2-40B4-BE49-F238E27FC236}">
                <a16:creationId xmlns:a16="http://schemas.microsoft.com/office/drawing/2014/main" id="{E568BB32-2E06-44E3-95B5-043D747B01FA}"/>
              </a:ext>
            </a:extLst>
          </p:cNvPr>
          <p:cNvSpPr txBox="1"/>
          <p:nvPr/>
        </p:nvSpPr>
        <p:spPr>
          <a:xfrm>
            <a:off x="8746324" y="3447004"/>
            <a:ext cx="9160676" cy="5386090"/>
          </a:xfrm>
          <a:prstGeom prst="rect">
            <a:avLst/>
          </a:prstGeom>
          <a:noFill/>
        </p:spPr>
        <p:txBody>
          <a:bodyPr wrap="square">
            <a:spAutoFit/>
          </a:bodyPr>
          <a:lstStyle/>
          <a:p>
            <a:r>
              <a:rPr lang="en-US" sz="7200" b="1" dirty="0">
                <a:latin typeface="KoHo" panose="020B0604020202020204" charset="-34"/>
                <a:cs typeface="KoHo" panose="020B0604020202020204" charset="-34"/>
              </a:rPr>
              <a:t>Project Goal</a:t>
            </a:r>
          </a:p>
          <a:p>
            <a:endParaRPr lang="en-US" b="1" dirty="0">
              <a:latin typeface="KoHo" panose="020B0604020202020204" charset="-34"/>
              <a:cs typeface="KoHo" panose="020B0604020202020204" charset="-34"/>
            </a:endParaRPr>
          </a:p>
          <a:p>
            <a:r>
              <a:rPr lang="en-US" sz="3600" b="0" i="0" dirty="0">
                <a:effectLst/>
                <a:latin typeface="KoHo" panose="020B0604020202020204" charset="-34"/>
                <a:cs typeface="KoHo" panose="020B0604020202020204" charset="-34"/>
              </a:rPr>
              <a:t>The goal is to derive valuable insights into user sentiment, and addressing patterns of positive, neutral, and negative feedback. Understanding sentiment trends can help uncover critical insights into customer satisfaction and areas for improvement</a:t>
            </a:r>
            <a:r>
              <a:rPr lang="en-US" b="0" i="0" dirty="0">
                <a:effectLst/>
                <a:latin typeface="KoHo" panose="020B0604020202020204" charset="-34"/>
                <a:cs typeface="KoHo" panose="020B0604020202020204" charset="-34"/>
              </a:rPr>
              <a:t>.</a:t>
            </a:r>
            <a:endParaRPr lang="en-US" b="1" dirty="0">
              <a:latin typeface="KoHo" panose="020B0604020202020204" charset="-34"/>
              <a:cs typeface="KoHo" panose="020B0604020202020204" charset="-34"/>
            </a:endParaRPr>
          </a:p>
          <a:p>
            <a:endParaRPr lang="en-US" b="1" dirty="0">
              <a:latin typeface="KoHo" panose="020B0604020202020204" charset="-34"/>
              <a:cs typeface="KoHo" panose="020B0604020202020204" charset="-34"/>
            </a:endParaRPr>
          </a:p>
          <a:p>
            <a:endParaRPr lang="en-US" b="1" dirty="0">
              <a:latin typeface="KoHo" panose="020B0604020202020204" charset="-34"/>
              <a:cs typeface="KoHo" panose="020B0604020202020204" charset="-34"/>
            </a:endParaRPr>
          </a:p>
          <a:p>
            <a:endParaRPr lang="en-US" b="1" dirty="0">
              <a:latin typeface="KoHo" panose="020B0604020202020204" charset="-34"/>
              <a:cs typeface="KoHo" panose="020B0604020202020204" charset="-34"/>
            </a:endParaRPr>
          </a:p>
        </p:txBody>
      </p:sp>
      <p:pic>
        <p:nvPicPr>
          <p:cNvPr id="2" name="Picture 1">
            <a:extLst>
              <a:ext uri="{FF2B5EF4-FFF2-40B4-BE49-F238E27FC236}">
                <a16:creationId xmlns:a16="http://schemas.microsoft.com/office/drawing/2014/main" id="{8BBA03F9-9FB6-4A08-8C42-2249B4992297}"/>
              </a:ext>
            </a:extLst>
          </p:cNvPr>
          <p:cNvPicPr>
            <a:picLocks noChangeAspect="1"/>
          </p:cNvPicPr>
          <p:nvPr/>
        </p:nvPicPr>
        <p:blipFill rotWithShape="1">
          <a:blip r:embed="rId3">
            <a:alphaModFix amt="74000"/>
          </a:blip>
          <a:srcRect t="55237" r="401" b="26405"/>
          <a:stretch/>
        </p:blipFill>
        <p:spPr>
          <a:xfrm>
            <a:off x="381000" y="8650158"/>
            <a:ext cx="16778604" cy="1636842"/>
          </a:xfrm>
          <a:prstGeom prst="rect">
            <a:avLst/>
          </a:prstGeom>
        </p:spPr>
      </p:pic>
      <p:pic>
        <p:nvPicPr>
          <p:cNvPr id="4" name="Picture 3">
            <a:extLst>
              <a:ext uri="{FF2B5EF4-FFF2-40B4-BE49-F238E27FC236}">
                <a16:creationId xmlns:a16="http://schemas.microsoft.com/office/drawing/2014/main" id="{64E83CF7-F618-432D-AD1B-553DD23A7556}"/>
              </a:ext>
            </a:extLst>
          </p:cNvPr>
          <p:cNvPicPr>
            <a:picLocks noChangeAspect="1"/>
          </p:cNvPicPr>
          <p:nvPr/>
        </p:nvPicPr>
        <p:blipFill>
          <a:blip r:embed="rId4"/>
          <a:stretch>
            <a:fillRect/>
          </a:stretch>
        </p:blipFill>
        <p:spPr>
          <a:xfrm>
            <a:off x="16676" y="8650158"/>
            <a:ext cx="2024047" cy="1536325"/>
          </a:xfrm>
          <a:prstGeom prst="rect">
            <a:avLst/>
          </a:prstGeom>
        </p:spPr>
      </p:pic>
    </p:spTree>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44000"/>
          </a:schemeClr>
        </a:solidFill>
        <a:effectLst/>
      </p:bgPr>
    </p:bg>
    <p:spTree>
      <p:nvGrpSpPr>
        <p:cNvPr id="1" name="Shape 143"/>
        <p:cNvGrpSpPr/>
        <p:nvPr/>
      </p:nvGrpSpPr>
      <p:grpSpPr>
        <a:xfrm>
          <a:off x="0" y="0"/>
          <a:ext cx="0" cy="0"/>
          <a:chOff x="0" y="0"/>
          <a:chExt cx="0" cy="0"/>
        </a:xfrm>
      </p:grpSpPr>
      <p:sp>
        <p:nvSpPr>
          <p:cNvPr id="2" name="TextBox 1">
            <a:extLst>
              <a:ext uri="{FF2B5EF4-FFF2-40B4-BE49-F238E27FC236}">
                <a16:creationId xmlns:a16="http://schemas.microsoft.com/office/drawing/2014/main" id="{39FF9DB7-50AA-4105-B24B-77E343B6516D}"/>
              </a:ext>
            </a:extLst>
          </p:cNvPr>
          <p:cNvSpPr txBox="1"/>
          <p:nvPr/>
        </p:nvSpPr>
        <p:spPr>
          <a:xfrm>
            <a:off x="2606040" y="937260"/>
            <a:ext cx="10104120" cy="646331"/>
          </a:xfrm>
          <a:prstGeom prst="rect">
            <a:avLst/>
          </a:prstGeom>
          <a:noFill/>
        </p:spPr>
        <p:txBody>
          <a:bodyPr wrap="square" rtlCol="0">
            <a:spAutoFit/>
          </a:bodyPr>
          <a:lstStyle/>
          <a:p>
            <a:r>
              <a:rPr lang="en-US" sz="3600" b="1" dirty="0">
                <a:latin typeface="KoHo" panose="020B0604020202020204" charset="-34"/>
                <a:cs typeface="KoHo" panose="020B0604020202020204" charset="-34"/>
              </a:rPr>
              <a:t>					OBJECTIVES</a:t>
            </a:r>
          </a:p>
        </p:txBody>
      </p:sp>
      <p:sp>
        <p:nvSpPr>
          <p:cNvPr id="3" name="Arrow: Right 2">
            <a:extLst>
              <a:ext uri="{FF2B5EF4-FFF2-40B4-BE49-F238E27FC236}">
                <a16:creationId xmlns:a16="http://schemas.microsoft.com/office/drawing/2014/main" id="{859BBC0C-D445-4531-8D6A-70D550E54A6C}"/>
              </a:ext>
            </a:extLst>
          </p:cNvPr>
          <p:cNvSpPr/>
          <p:nvPr/>
        </p:nvSpPr>
        <p:spPr>
          <a:xfrm>
            <a:off x="-411480" y="1260425"/>
            <a:ext cx="6377940" cy="1257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KoHo" panose="020B0604020202020204" charset="-34"/>
                <a:cs typeface="KoHo" panose="020B0604020202020204" charset="-34"/>
              </a:rPr>
              <a:t>Understanding Customer preferences</a:t>
            </a:r>
          </a:p>
        </p:txBody>
      </p:sp>
      <p:sp>
        <p:nvSpPr>
          <p:cNvPr id="4" name="TextBox 3">
            <a:extLst>
              <a:ext uri="{FF2B5EF4-FFF2-40B4-BE49-F238E27FC236}">
                <a16:creationId xmlns:a16="http://schemas.microsoft.com/office/drawing/2014/main" id="{C47C8C07-DD35-4961-A6D9-5A80C797136C}"/>
              </a:ext>
            </a:extLst>
          </p:cNvPr>
          <p:cNvSpPr txBox="1"/>
          <p:nvPr/>
        </p:nvSpPr>
        <p:spPr>
          <a:xfrm>
            <a:off x="845820" y="2834640"/>
            <a:ext cx="14470380" cy="1508105"/>
          </a:xfrm>
          <a:prstGeom prst="rect">
            <a:avLst/>
          </a:prstGeom>
          <a:noFill/>
        </p:spPr>
        <p:txBody>
          <a:bodyPr wrap="square" rtlCol="0">
            <a:spAutoFit/>
          </a:bodyPr>
          <a:lstStyle/>
          <a:p>
            <a:r>
              <a:rPr lang="en-US" sz="2400" b="0" i="0" dirty="0">
                <a:effectLst/>
                <a:latin typeface="KoHo" panose="020B0604020202020204" charset="-34"/>
                <a:cs typeface="KoHo" panose="020B0604020202020204" charset="-34"/>
              </a:rPr>
              <a:t>By analyzing reviews, Amazon Prime Video can identify specific content genres, themes, or features that audiences love or dislike. For instance, if a series receives overwhelmingly positive feedback for its storyline or casting, they can prioritize producing similar content.</a:t>
            </a:r>
          </a:p>
          <a:p>
            <a:endParaRPr lang="en-US" sz="2000" dirty="0">
              <a:latin typeface="KoHo" panose="020B0604020202020204" charset="-34"/>
              <a:cs typeface="KoHo" panose="020B0604020202020204" charset="-34"/>
            </a:endParaRPr>
          </a:p>
        </p:txBody>
      </p:sp>
      <p:sp>
        <p:nvSpPr>
          <p:cNvPr id="5" name="Arrow: Right 4">
            <a:extLst>
              <a:ext uri="{FF2B5EF4-FFF2-40B4-BE49-F238E27FC236}">
                <a16:creationId xmlns:a16="http://schemas.microsoft.com/office/drawing/2014/main" id="{9F10690D-2E29-4E94-BA32-407763E5D2C4}"/>
              </a:ext>
            </a:extLst>
          </p:cNvPr>
          <p:cNvSpPr/>
          <p:nvPr/>
        </p:nvSpPr>
        <p:spPr>
          <a:xfrm>
            <a:off x="-228600" y="4091940"/>
            <a:ext cx="6195060" cy="1257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KoHo" panose="020B0604020202020204" charset="-34"/>
                <a:cs typeface="KoHo" panose="020B0604020202020204" charset="-34"/>
              </a:rPr>
              <a:t>Improving content quality</a:t>
            </a:r>
          </a:p>
        </p:txBody>
      </p:sp>
      <p:sp>
        <p:nvSpPr>
          <p:cNvPr id="7" name="TextBox 6">
            <a:extLst>
              <a:ext uri="{FF2B5EF4-FFF2-40B4-BE49-F238E27FC236}">
                <a16:creationId xmlns:a16="http://schemas.microsoft.com/office/drawing/2014/main" id="{E3FD96AA-E202-460B-A048-E8EB1DEE12AF}"/>
              </a:ext>
            </a:extLst>
          </p:cNvPr>
          <p:cNvSpPr txBox="1"/>
          <p:nvPr/>
        </p:nvSpPr>
        <p:spPr>
          <a:xfrm>
            <a:off x="845820" y="5349240"/>
            <a:ext cx="14653260" cy="1200329"/>
          </a:xfrm>
          <a:prstGeom prst="rect">
            <a:avLst/>
          </a:prstGeom>
          <a:noFill/>
        </p:spPr>
        <p:txBody>
          <a:bodyPr wrap="square" rtlCol="0">
            <a:spAutoFit/>
          </a:bodyPr>
          <a:lstStyle/>
          <a:p>
            <a:r>
              <a:rPr lang="en-US" sz="2400" dirty="0">
                <a:latin typeface="KoHo" panose="020B0604020202020204" charset="-34"/>
                <a:cs typeface="KoHo" panose="020B0604020202020204" charset="-34"/>
              </a:rPr>
              <a:t>F</a:t>
            </a:r>
            <a:r>
              <a:rPr lang="en-US" sz="2400" b="0" i="0" dirty="0">
                <a:effectLst/>
                <a:latin typeface="KoHo" panose="020B0604020202020204" charset="-34"/>
                <a:cs typeface="KoHo" panose="020B0604020202020204" charset="-34"/>
              </a:rPr>
              <a:t>eedback from negative sentiment can pinpoint areas of dissatisfaction, such as weak storylines, poor production quality, or technical issues. This information allows Prime Video to improve its offerings and avoid repeated mistakes.</a:t>
            </a:r>
          </a:p>
        </p:txBody>
      </p:sp>
      <p:sp>
        <p:nvSpPr>
          <p:cNvPr id="9" name="Arrow: Right 8">
            <a:extLst>
              <a:ext uri="{FF2B5EF4-FFF2-40B4-BE49-F238E27FC236}">
                <a16:creationId xmlns:a16="http://schemas.microsoft.com/office/drawing/2014/main" id="{0F0F1879-AB11-4134-8FBC-93889C8B0948}"/>
              </a:ext>
            </a:extLst>
          </p:cNvPr>
          <p:cNvSpPr/>
          <p:nvPr/>
        </p:nvSpPr>
        <p:spPr>
          <a:xfrm>
            <a:off x="-411480" y="6540401"/>
            <a:ext cx="6377940" cy="1257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KoHo" panose="020B0604020202020204" charset="-34"/>
                <a:cs typeface="KoHo" panose="020B0604020202020204" charset="-34"/>
              </a:rPr>
              <a:t>Targeted Marketing Strategies</a:t>
            </a:r>
          </a:p>
        </p:txBody>
      </p:sp>
      <p:sp>
        <p:nvSpPr>
          <p:cNvPr id="10" name="TextBox 9">
            <a:extLst>
              <a:ext uri="{FF2B5EF4-FFF2-40B4-BE49-F238E27FC236}">
                <a16:creationId xmlns:a16="http://schemas.microsoft.com/office/drawing/2014/main" id="{AE84C85F-F12F-471E-881B-32205A45B9D2}"/>
              </a:ext>
            </a:extLst>
          </p:cNvPr>
          <p:cNvSpPr txBox="1"/>
          <p:nvPr/>
        </p:nvSpPr>
        <p:spPr>
          <a:xfrm>
            <a:off x="845820" y="8180755"/>
            <a:ext cx="14973300" cy="1200329"/>
          </a:xfrm>
          <a:prstGeom prst="rect">
            <a:avLst/>
          </a:prstGeom>
          <a:noFill/>
        </p:spPr>
        <p:txBody>
          <a:bodyPr wrap="square" rtlCol="0">
            <a:spAutoFit/>
          </a:bodyPr>
          <a:lstStyle/>
          <a:p>
            <a:r>
              <a:rPr lang="en-US" sz="2400" b="0" i="0" dirty="0">
                <a:effectLst/>
                <a:latin typeface="KoHo" panose="020B0604020202020204" charset="-34"/>
                <a:cs typeface="KoHo" panose="020B0604020202020204" charset="-34"/>
              </a:rPr>
              <a:t>Positive sentiment analysis can help identify which content resonates most with users. These insights can guide marketing campaigns, focusing on promoting highly-rated shows and movies to attract new users and retain existing ones.</a:t>
            </a:r>
            <a:endParaRPr lang="en-US" sz="2400" dirty="0">
              <a:latin typeface="KoHo" panose="020B0604020202020204" charset="-34"/>
              <a:cs typeface="KoHo" panose="020B0604020202020204" charset="-34"/>
            </a:endParaRPr>
          </a:p>
        </p:txBody>
      </p:sp>
      <p:pic>
        <p:nvPicPr>
          <p:cNvPr id="11" name="Picture 10">
            <a:extLst>
              <a:ext uri="{FF2B5EF4-FFF2-40B4-BE49-F238E27FC236}">
                <a16:creationId xmlns:a16="http://schemas.microsoft.com/office/drawing/2014/main" id="{F527818B-0929-4ECF-A15B-60C07191D3B3}"/>
              </a:ext>
            </a:extLst>
          </p:cNvPr>
          <p:cNvPicPr>
            <a:picLocks noChangeAspect="1"/>
          </p:cNvPicPr>
          <p:nvPr/>
        </p:nvPicPr>
        <p:blipFill>
          <a:blip r:embed="rId3"/>
          <a:stretch>
            <a:fillRect/>
          </a:stretch>
        </p:blipFill>
        <p:spPr>
          <a:xfrm>
            <a:off x="14656881" y="362499"/>
            <a:ext cx="3631119" cy="1843491"/>
          </a:xfrm>
          <a:prstGeom prst="rect">
            <a:avLst/>
          </a:prstGeom>
        </p:spPr>
      </p:pic>
      <p:pic>
        <p:nvPicPr>
          <p:cNvPr id="12" name="Picture 11">
            <a:extLst>
              <a:ext uri="{FF2B5EF4-FFF2-40B4-BE49-F238E27FC236}">
                <a16:creationId xmlns:a16="http://schemas.microsoft.com/office/drawing/2014/main" id="{35FE68C6-E18A-464E-8FFA-637A8B86BBED}"/>
              </a:ext>
            </a:extLst>
          </p:cNvPr>
          <p:cNvPicPr>
            <a:picLocks noChangeAspect="1"/>
          </p:cNvPicPr>
          <p:nvPr/>
        </p:nvPicPr>
        <p:blipFill>
          <a:blip r:embed="rId4"/>
          <a:stretch>
            <a:fillRect/>
          </a:stretch>
        </p:blipFill>
        <p:spPr>
          <a:xfrm>
            <a:off x="14447520" y="-93269"/>
            <a:ext cx="3840480" cy="26756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5000"/>
          </a:schemeClr>
        </a:solidFill>
        <a:effectLst/>
      </p:bgPr>
    </p:bg>
    <p:spTree>
      <p:nvGrpSpPr>
        <p:cNvPr id="1" name="Shape 212"/>
        <p:cNvGrpSpPr/>
        <p:nvPr/>
      </p:nvGrpSpPr>
      <p:grpSpPr>
        <a:xfrm>
          <a:off x="0" y="0"/>
          <a:ext cx="0" cy="0"/>
          <a:chOff x="0" y="0"/>
          <a:chExt cx="0" cy="0"/>
        </a:xfrm>
      </p:grpSpPr>
      <p:pic>
        <p:nvPicPr>
          <p:cNvPr id="213" name="Google Shape;213;p20"/>
          <p:cNvPicPr preferRelativeResize="0"/>
          <p:nvPr/>
        </p:nvPicPr>
        <p:blipFill>
          <a:blip r:embed="rId3">
            <a:alphaModFix/>
          </a:blip>
          <a:stretch>
            <a:fillRect/>
          </a:stretch>
        </p:blipFill>
        <p:spPr>
          <a:xfrm>
            <a:off x="11907950" y="1028700"/>
            <a:ext cx="5541850" cy="3867882"/>
          </a:xfrm>
          <a:prstGeom prst="rect">
            <a:avLst/>
          </a:prstGeom>
          <a:noFill/>
          <a:ln>
            <a:noFill/>
          </a:ln>
        </p:spPr>
      </p:pic>
      <p:sp>
        <p:nvSpPr>
          <p:cNvPr id="214" name="Google Shape;214;p20"/>
          <p:cNvSpPr txBox="1"/>
          <p:nvPr/>
        </p:nvSpPr>
        <p:spPr>
          <a:xfrm>
            <a:off x="1028700" y="5866464"/>
            <a:ext cx="15338700" cy="200054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000" dirty="0">
                <a:solidFill>
                  <a:srgbClr val="1C1C1C"/>
                </a:solidFill>
                <a:latin typeface="KoHo" panose="020B0604020202020204" charset="-34"/>
                <a:cs typeface="KoHo" panose="020B0604020202020204" charset="-34"/>
                <a:sym typeface="Paytone One"/>
              </a:rPr>
              <a:t>Visualization</a:t>
            </a:r>
            <a:endParaRPr sz="13000" dirty="0">
              <a:latin typeface="KoHo" panose="020B0604020202020204" charset="-34"/>
              <a:cs typeface="KoHo" panose="020B0604020202020204" charset="-34"/>
            </a:endParaRPr>
          </a:p>
        </p:txBody>
      </p:sp>
      <p:pic>
        <p:nvPicPr>
          <p:cNvPr id="216" name="Google Shape;216;p20"/>
          <p:cNvPicPr preferRelativeResize="0"/>
          <p:nvPr/>
        </p:nvPicPr>
        <p:blipFill>
          <a:blip r:embed="rId4">
            <a:alphaModFix/>
          </a:blip>
          <a:stretch>
            <a:fillRect/>
          </a:stretch>
        </p:blipFill>
        <p:spPr>
          <a:xfrm>
            <a:off x="0" y="1056350"/>
            <a:ext cx="11907952" cy="3364187"/>
          </a:xfrm>
          <a:prstGeom prst="rect">
            <a:avLst/>
          </a:prstGeom>
          <a:noFill/>
          <a:ln>
            <a:noFill/>
          </a:ln>
        </p:spPr>
      </p:pic>
      <p:pic>
        <p:nvPicPr>
          <p:cNvPr id="1026" name="Picture 2" descr="1,700 Amazon Prime Video Images, Stock Photos, 3D objects ...">
            <a:extLst>
              <a:ext uri="{FF2B5EF4-FFF2-40B4-BE49-F238E27FC236}">
                <a16:creationId xmlns:a16="http://schemas.microsoft.com/office/drawing/2014/main" id="{ECFADE08-8ADA-4A36-B2B3-B800A583F6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41636" y="1571858"/>
            <a:ext cx="5074479" cy="27815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pattFill prst="pct5">
          <a:fgClr>
            <a:schemeClr val="accent5">
              <a:lumMod val="20000"/>
              <a:lumOff val="80000"/>
            </a:schemeClr>
          </a:fgClr>
          <a:bgClr>
            <a:schemeClr val="bg1"/>
          </a:bgClr>
        </a:patt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424B97A-456C-48AE-8D37-28AFAC17DCA6}"/>
              </a:ext>
            </a:extLst>
          </p:cNvPr>
          <p:cNvPicPr>
            <a:picLocks noChangeAspect="1"/>
          </p:cNvPicPr>
          <p:nvPr/>
        </p:nvPicPr>
        <p:blipFill>
          <a:blip r:embed="rId2"/>
          <a:stretch>
            <a:fillRect/>
          </a:stretch>
        </p:blipFill>
        <p:spPr>
          <a:xfrm>
            <a:off x="106680" y="626098"/>
            <a:ext cx="11486197" cy="7827340"/>
          </a:xfrm>
          <a:prstGeom prst="rect">
            <a:avLst/>
          </a:prstGeom>
        </p:spPr>
      </p:pic>
      <p:sp>
        <p:nvSpPr>
          <p:cNvPr id="7" name="TextBox 6">
            <a:extLst>
              <a:ext uri="{FF2B5EF4-FFF2-40B4-BE49-F238E27FC236}">
                <a16:creationId xmlns:a16="http://schemas.microsoft.com/office/drawing/2014/main" id="{565FFF9A-646E-468B-95D2-394607280EC0}"/>
              </a:ext>
            </a:extLst>
          </p:cNvPr>
          <p:cNvSpPr txBox="1"/>
          <p:nvPr/>
        </p:nvSpPr>
        <p:spPr>
          <a:xfrm>
            <a:off x="11932920" y="1249680"/>
            <a:ext cx="6050280" cy="6494085"/>
          </a:xfrm>
          <a:prstGeom prst="rect">
            <a:avLst/>
          </a:prstGeom>
          <a:noFill/>
        </p:spPr>
        <p:txBody>
          <a:bodyPr wrap="square" rtlCol="0">
            <a:spAutoFit/>
          </a:bodyPr>
          <a:lstStyle/>
          <a:p>
            <a:r>
              <a:rPr lang="en-US" sz="2000" b="1" dirty="0">
                <a:solidFill>
                  <a:schemeClr val="tx1"/>
                </a:solidFill>
                <a:effectLst/>
                <a:latin typeface="KoHo" panose="020B0604020202020204" charset="-34"/>
                <a:cs typeface="KoHo" panose="020B0604020202020204" charset="-34"/>
              </a:rPr>
              <a:t>Positive Reviews </a:t>
            </a:r>
            <a:r>
              <a:rPr lang="en-US" sz="2000" b="0" dirty="0">
                <a:solidFill>
                  <a:schemeClr val="tx1"/>
                </a:solidFill>
                <a:effectLst/>
                <a:latin typeface="KoHo" panose="020B0604020202020204" charset="-34"/>
                <a:cs typeface="KoHo" panose="020B0604020202020204" charset="-34"/>
              </a:rPr>
              <a:t>The overwhelming dominance of positive sentiments suggests that most viewers are highly satisfied with Prime Video's content</a:t>
            </a:r>
            <a:endParaRPr lang="en-US" sz="2000" dirty="0">
              <a:solidFill>
                <a:schemeClr val="tx1"/>
              </a:solidFill>
              <a:latin typeface="KoHo" panose="020B0604020202020204" charset="-34"/>
              <a:cs typeface="KoHo" panose="020B0604020202020204" charset="-34"/>
            </a:endParaRPr>
          </a:p>
          <a:p>
            <a:br>
              <a:rPr lang="en-US" sz="2100" b="0" dirty="0">
                <a:solidFill>
                  <a:schemeClr val="tx1"/>
                </a:solidFill>
                <a:effectLst/>
                <a:latin typeface="KoHo" panose="020B0604020202020204" charset="-34"/>
                <a:cs typeface="KoHo" panose="020B0604020202020204" charset="-34"/>
              </a:rPr>
            </a:br>
            <a:r>
              <a:rPr lang="en-US" sz="2000" b="1" dirty="0">
                <a:solidFill>
                  <a:schemeClr val="tx1"/>
                </a:solidFill>
                <a:effectLst/>
                <a:latin typeface="KoHo" panose="020B0604020202020204" charset="-34"/>
                <a:cs typeface="KoHo" panose="020B0604020202020204" charset="-34"/>
              </a:rPr>
              <a:t>Negative Reviews </a:t>
            </a:r>
            <a:r>
              <a:rPr lang="en-US" sz="2000" b="0" dirty="0">
                <a:solidFill>
                  <a:schemeClr val="tx1"/>
                </a:solidFill>
                <a:effectLst/>
                <a:latin typeface="KoHo" panose="020B0604020202020204" charset="-34"/>
                <a:cs typeface="KoHo" panose="020B0604020202020204" charset="-34"/>
              </a:rPr>
              <a:t>are far fewer; delving deeper into this category provides key feedback to identify specific pian points and enhance overall user experience.</a:t>
            </a:r>
          </a:p>
          <a:p>
            <a:br>
              <a:rPr lang="en-US" sz="2100" b="0" dirty="0">
                <a:solidFill>
                  <a:schemeClr val="tx1"/>
                </a:solidFill>
                <a:effectLst/>
                <a:latin typeface="KoHo" panose="020B0604020202020204" charset="-34"/>
                <a:cs typeface="KoHo" panose="020B0604020202020204" charset="-34"/>
              </a:rPr>
            </a:br>
            <a:r>
              <a:rPr lang="en-US" sz="2000" b="1" dirty="0">
                <a:solidFill>
                  <a:schemeClr val="tx1"/>
                </a:solidFill>
                <a:effectLst/>
                <a:latin typeface="KoHo" panose="020B0604020202020204" charset="-34"/>
                <a:cs typeface="KoHo" panose="020B0604020202020204" charset="-34"/>
              </a:rPr>
              <a:t>Neutral Reviews </a:t>
            </a:r>
            <a:r>
              <a:rPr lang="en-US" sz="2000" dirty="0">
                <a:solidFill>
                  <a:schemeClr val="tx1"/>
                </a:solidFill>
                <a:latin typeface="KoHo" panose="020B0604020202020204" charset="-34"/>
                <a:cs typeface="KoHo" panose="020B0604020202020204" charset="-34"/>
              </a:rPr>
              <a:t>while </a:t>
            </a:r>
            <a:r>
              <a:rPr lang="en-US" sz="2000" b="0" dirty="0">
                <a:solidFill>
                  <a:schemeClr val="tx1"/>
                </a:solidFill>
                <a:effectLst/>
                <a:latin typeface="KoHo" panose="020B0604020202020204" charset="-34"/>
                <a:cs typeface="KoHo" panose="020B0604020202020204" charset="-34"/>
              </a:rPr>
              <a:t>the least pose a unique challenge as well as opportunities. While they lack emotional intensity, they provide significant insights that can be deciphered by taking a deep dive on the specificities, tone and nuances.</a:t>
            </a:r>
          </a:p>
          <a:p>
            <a:br>
              <a:rPr lang="en-US" sz="2000" b="0" dirty="0">
                <a:solidFill>
                  <a:schemeClr val="tx1"/>
                </a:solidFill>
                <a:effectLst/>
                <a:latin typeface="KoHo" panose="020B0604020202020204" charset="-34"/>
                <a:cs typeface="KoHo" panose="020B0604020202020204" charset="-34"/>
              </a:rPr>
            </a:br>
            <a:r>
              <a:rPr lang="en-US" sz="2000" b="0" dirty="0">
                <a:solidFill>
                  <a:schemeClr val="tx1"/>
                </a:solidFill>
                <a:effectLst/>
                <a:latin typeface="KoHo" panose="020B0604020202020204" charset="-34"/>
                <a:cs typeface="KoHo" panose="020B0604020202020204" charset="-34"/>
              </a:rPr>
              <a:t>Identifying specific aspects for each sentiment  – such as content quality, streaming experience, story lines, can go along way in leveraging sentiment analysis to address key pain points, prioritize areas for improvement and develop targeted solutions</a:t>
            </a:r>
          </a:p>
          <a:p>
            <a:endParaRPr lang="en-US" b="0" dirty="0">
              <a:solidFill>
                <a:srgbClr val="FFFFFF"/>
              </a:solidFill>
              <a:effectLst/>
              <a:latin typeface="Consolas" panose="020B0609020204030204" pitchFamily="49" charset="0"/>
            </a:endParaRPr>
          </a:p>
        </p:txBody>
      </p:sp>
      <p:pic>
        <p:nvPicPr>
          <p:cNvPr id="8" name="Picture 7">
            <a:extLst>
              <a:ext uri="{FF2B5EF4-FFF2-40B4-BE49-F238E27FC236}">
                <a16:creationId xmlns:a16="http://schemas.microsoft.com/office/drawing/2014/main" id="{2176D857-E2AE-4046-9B61-6EC4B3F00516}"/>
              </a:ext>
            </a:extLst>
          </p:cNvPr>
          <p:cNvPicPr>
            <a:picLocks noChangeAspect="1"/>
          </p:cNvPicPr>
          <p:nvPr/>
        </p:nvPicPr>
        <p:blipFill>
          <a:blip r:embed="rId3"/>
          <a:stretch>
            <a:fillRect/>
          </a:stretch>
        </p:blipFill>
        <p:spPr>
          <a:xfrm>
            <a:off x="15322048" y="7827159"/>
            <a:ext cx="2859272" cy="2420322"/>
          </a:xfrm>
          <a:prstGeom prst="rect">
            <a:avLst/>
          </a:prstGeom>
        </p:spPr>
      </p:pic>
      <p:pic>
        <p:nvPicPr>
          <p:cNvPr id="9" name="Picture 8">
            <a:extLst>
              <a:ext uri="{FF2B5EF4-FFF2-40B4-BE49-F238E27FC236}">
                <a16:creationId xmlns:a16="http://schemas.microsoft.com/office/drawing/2014/main" id="{5EA8DAF9-73CA-4350-BB16-62A0F0B27D92}"/>
              </a:ext>
            </a:extLst>
          </p:cNvPr>
          <p:cNvPicPr>
            <a:picLocks noChangeAspect="1"/>
          </p:cNvPicPr>
          <p:nvPr/>
        </p:nvPicPr>
        <p:blipFill>
          <a:blip r:embed="rId4"/>
          <a:stretch>
            <a:fillRect/>
          </a:stretch>
        </p:blipFill>
        <p:spPr>
          <a:xfrm>
            <a:off x="-1118585" y="7650578"/>
            <a:ext cx="4583146" cy="6675022"/>
          </a:xfrm>
          <a:prstGeom prst="rect">
            <a:avLst/>
          </a:prstGeom>
        </p:spPr>
      </p:pic>
      <p:sp>
        <p:nvSpPr>
          <p:cNvPr id="2" name="Rectangle 1">
            <a:extLst>
              <a:ext uri="{FF2B5EF4-FFF2-40B4-BE49-F238E27FC236}">
                <a16:creationId xmlns:a16="http://schemas.microsoft.com/office/drawing/2014/main" id="{59762643-47AF-A9C4-6F7C-5310E3820C7D}"/>
              </a:ext>
            </a:extLst>
          </p:cNvPr>
          <p:cNvSpPr>
            <a:spLocks noChangeArrowheads="1"/>
          </p:cNvSpPr>
          <p:nvPr/>
        </p:nvSpPr>
        <p:spPr bwMode="auto">
          <a:xfrm>
            <a:off x="0" y="-184666"/>
            <a:ext cx="184731" cy="369332"/>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72898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accent5">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F80D872-0B6C-45C5-9E4C-19A1B8225650}"/>
              </a:ext>
            </a:extLst>
          </p:cNvPr>
          <p:cNvSpPr txBox="1"/>
          <p:nvPr/>
        </p:nvSpPr>
        <p:spPr>
          <a:xfrm>
            <a:off x="11887200" y="518159"/>
            <a:ext cx="6263640" cy="6709529"/>
          </a:xfrm>
          <a:prstGeom prst="rect">
            <a:avLst/>
          </a:prstGeom>
          <a:noFill/>
        </p:spPr>
        <p:txBody>
          <a:bodyPr wrap="square" rtlCol="0">
            <a:spAutoFit/>
          </a:bodyPr>
          <a:lstStyle/>
          <a:p>
            <a:r>
              <a:rPr lang="en-US" sz="6000" b="1" dirty="0">
                <a:solidFill>
                  <a:schemeClr val="tx1"/>
                </a:solidFill>
                <a:effectLst/>
                <a:latin typeface="KoHo" panose="020B0604020202020204" charset="-34"/>
                <a:cs typeface="KoHo" panose="020B0604020202020204" charset="-34"/>
              </a:rPr>
              <a:t>Key Insights</a:t>
            </a:r>
            <a:endParaRPr lang="en-US" sz="6000" b="0" dirty="0">
              <a:solidFill>
                <a:schemeClr val="tx1"/>
              </a:solidFill>
              <a:effectLst/>
              <a:latin typeface="KoHo" panose="020B0604020202020204" charset="-34"/>
              <a:cs typeface="KoHo" panose="020B0604020202020204" charset="-34"/>
            </a:endParaRPr>
          </a:p>
          <a:p>
            <a:endParaRPr lang="en-US" sz="2000" dirty="0">
              <a:solidFill>
                <a:schemeClr val="tx1"/>
              </a:solidFill>
              <a:latin typeface="KoHo" panose="020B0604020202020204" charset="-34"/>
              <a:cs typeface="KoHo" panose="020B0604020202020204" charset="-34"/>
            </a:endParaRPr>
          </a:p>
          <a:p>
            <a:r>
              <a:rPr lang="en-US" sz="2400" b="0" dirty="0">
                <a:solidFill>
                  <a:schemeClr val="tx1"/>
                </a:solidFill>
                <a:effectLst/>
                <a:latin typeface="KoHo" panose="020B0604020202020204" charset="-34"/>
                <a:cs typeface="KoHo" panose="020B0604020202020204" charset="-34"/>
              </a:rPr>
              <a:t>Audience Preferences: Categories like </a:t>
            </a:r>
            <a:r>
              <a:rPr lang="en-US" sz="2400" b="0" i="1" dirty="0">
                <a:solidFill>
                  <a:schemeClr val="tx1"/>
                </a:solidFill>
                <a:effectLst/>
                <a:latin typeface="KoHo" panose="020B0604020202020204" charset="-34"/>
                <a:cs typeface="KoHo" panose="020B0604020202020204" charset="-34"/>
              </a:rPr>
              <a:t>Animation, Kids, Fantasy, Fitness, Historical, Talk-show </a:t>
            </a:r>
            <a:r>
              <a:rPr lang="en-US" sz="2400" b="0" dirty="0">
                <a:solidFill>
                  <a:schemeClr val="tx1"/>
                </a:solidFill>
                <a:effectLst/>
                <a:latin typeface="KoHo" panose="020B0604020202020204" charset="-34"/>
                <a:cs typeface="KoHo" panose="020B0604020202020204" charset="-34"/>
              </a:rPr>
              <a:t>and  </a:t>
            </a:r>
            <a:r>
              <a:rPr lang="en-US" sz="2400" i="1" dirty="0">
                <a:solidFill>
                  <a:schemeClr val="tx1"/>
                </a:solidFill>
                <a:effectLst/>
                <a:latin typeface="KoHo" panose="020B0604020202020204" charset="-34"/>
                <a:cs typeface="KoHo" panose="020B0604020202020204" charset="-34"/>
              </a:rPr>
              <a:t>Western</a:t>
            </a:r>
            <a:r>
              <a:rPr lang="en-US" sz="2400" b="1" i="1" dirty="0">
                <a:solidFill>
                  <a:schemeClr val="tx1"/>
                </a:solidFill>
                <a:effectLst/>
                <a:latin typeface="KoHo" panose="020B0604020202020204" charset="-34"/>
                <a:cs typeface="KoHo" panose="020B0604020202020204" charset="-34"/>
              </a:rPr>
              <a:t> </a:t>
            </a:r>
            <a:r>
              <a:rPr lang="en-US" sz="2400" b="0" dirty="0">
                <a:solidFill>
                  <a:schemeClr val="tx1"/>
                </a:solidFill>
                <a:effectLst/>
                <a:latin typeface="KoHo" panose="020B0604020202020204" charset="-34"/>
                <a:cs typeface="KoHo" panose="020B0604020202020204" charset="-34"/>
              </a:rPr>
              <a:t>are highly favored, while genres such as  </a:t>
            </a:r>
            <a:r>
              <a:rPr lang="en-US" sz="2400" b="0" i="1" dirty="0">
                <a:solidFill>
                  <a:schemeClr val="tx1"/>
                </a:solidFill>
                <a:effectLst/>
                <a:latin typeface="KoHo" panose="020B0604020202020204" charset="-34"/>
                <a:cs typeface="KoHo" panose="020B0604020202020204" charset="-34"/>
              </a:rPr>
              <a:t>Horror</a:t>
            </a:r>
            <a:r>
              <a:rPr lang="en-US" sz="2400" b="0" dirty="0">
                <a:solidFill>
                  <a:schemeClr val="tx1"/>
                </a:solidFill>
                <a:effectLst/>
                <a:latin typeface="KoHo" panose="020B0604020202020204" charset="-34"/>
                <a:cs typeface="KoHo" panose="020B0604020202020204" charset="-34"/>
              </a:rPr>
              <a:t> and </a:t>
            </a:r>
            <a:r>
              <a:rPr lang="en-US" sz="2400" b="0" i="1" dirty="0">
                <a:solidFill>
                  <a:schemeClr val="tx1"/>
                </a:solidFill>
                <a:effectLst/>
                <a:latin typeface="KoHo" panose="020B0604020202020204" charset="-34"/>
                <a:cs typeface="KoHo" panose="020B0604020202020204" charset="-34"/>
              </a:rPr>
              <a:t>Arts</a:t>
            </a:r>
            <a:r>
              <a:rPr lang="en-US" sz="2400" b="0" dirty="0">
                <a:solidFill>
                  <a:schemeClr val="tx1"/>
                </a:solidFill>
                <a:effectLst/>
                <a:latin typeface="KoHo" panose="020B0604020202020204" charset="-34"/>
                <a:cs typeface="KoHo" panose="020B0604020202020204" charset="-34"/>
              </a:rPr>
              <a:t>  often elicit critical feedback.</a:t>
            </a:r>
          </a:p>
          <a:p>
            <a:endParaRPr lang="en-US" sz="2400" b="0" dirty="0">
              <a:solidFill>
                <a:schemeClr val="tx1"/>
              </a:solidFill>
              <a:effectLst/>
              <a:latin typeface="KoHo" panose="020B0604020202020204" charset="-34"/>
              <a:cs typeface="KoHo" panose="020B0604020202020204" charset="-34"/>
            </a:endParaRPr>
          </a:p>
          <a:p>
            <a:r>
              <a:rPr lang="en-US" sz="2400" b="0" dirty="0">
                <a:solidFill>
                  <a:schemeClr val="tx1"/>
                </a:solidFill>
                <a:effectLst/>
                <a:latin typeface="KoHo" panose="020B0604020202020204" charset="-34"/>
                <a:cs typeface="KoHo" panose="020B0604020202020204" charset="-34"/>
              </a:rPr>
              <a:t>Balanced Reception: Categories with higher neutral sentiment, such as </a:t>
            </a:r>
            <a:r>
              <a:rPr lang="en-US" sz="2400" b="0" i="1" dirty="0">
                <a:solidFill>
                  <a:schemeClr val="tx1"/>
                </a:solidFill>
                <a:effectLst/>
                <a:latin typeface="KoHo" panose="020B0604020202020204" charset="-34"/>
                <a:cs typeface="KoHo" panose="020B0604020202020204" charset="-34"/>
              </a:rPr>
              <a:t> LGBTQ  </a:t>
            </a:r>
            <a:r>
              <a:rPr lang="en-US" sz="2400" b="0" dirty="0">
                <a:solidFill>
                  <a:schemeClr val="tx1"/>
                </a:solidFill>
                <a:effectLst/>
                <a:latin typeface="KoHo" panose="020B0604020202020204" charset="-34"/>
                <a:cs typeface="KoHo" panose="020B0604020202020204" charset="-34"/>
              </a:rPr>
              <a:t>and  </a:t>
            </a:r>
            <a:r>
              <a:rPr lang="en-US" sz="2400" b="0" i="1" dirty="0">
                <a:solidFill>
                  <a:schemeClr val="tx1"/>
                </a:solidFill>
                <a:effectLst/>
                <a:latin typeface="KoHo" panose="020B0604020202020204" charset="-34"/>
                <a:cs typeface="KoHo" panose="020B0604020202020204" charset="-34"/>
              </a:rPr>
              <a:t>Music  </a:t>
            </a:r>
            <a:r>
              <a:rPr lang="en-US" sz="2400" b="0" dirty="0">
                <a:solidFill>
                  <a:schemeClr val="tx1"/>
                </a:solidFill>
                <a:effectLst/>
                <a:latin typeface="KoHo" panose="020B0604020202020204" charset="-34"/>
                <a:cs typeface="KoHo" panose="020B0604020202020204" charset="-34"/>
              </a:rPr>
              <a:t>content, suggest these genres may attract more nuanced reactions.</a:t>
            </a:r>
          </a:p>
          <a:p>
            <a:br>
              <a:rPr lang="en-US" sz="2400" b="0" dirty="0">
                <a:solidFill>
                  <a:schemeClr val="tx1"/>
                </a:solidFill>
                <a:effectLst/>
                <a:latin typeface="KoHo" panose="020B0604020202020204" charset="-34"/>
                <a:cs typeface="KoHo" panose="020B0604020202020204" charset="-34"/>
              </a:rPr>
            </a:br>
            <a:r>
              <a:rPr lang="en-US" sz="2400" b="0" dirty="0">
                <a:solidFill>
                  <a:schemeClr val="tx1"/>
                </a:solidFill>
                <a:effectLst/>
                <a:latin typeface="KoHo" panose="020B0604020202020204" charset="-34"/>
                <a:cs typeface="KoHo" panose="020B0604020202020204" charset="-34"/>
              </a:rPr>
              <a:t>Categories with higher negative sentiment could benefit from analyzing specific user feedback to address shortcomings.</a:t>
            </a:r>
          </a:p>
          <a:p>
            <a:endParaRPr lang="en-US" dirty="0"/>
          </a:p>
        </p:txBody>
      </p:sp>
      <p:pic>
        <p:nvPicPr>
          <p:cNvPr id="8" name="Picture 7">
            <a:extLst>
              <a:ext uri="{FF2B5EF4-FFF2-40B4-BE49-F238E27FC236}">
                <a16:creationId xmlns:a16="http://schemas.microsoft.com/office/drawing/2014/main" id="{0F076C75-71D9-4D3B-A036-5D7F90A2817D}"/>
              </a:ext>
            </a:extLst>
          </p:cNvPr>
          <p:cNvPicPr>
            <a:picLocks noChangeAspect="1"/>
          </p:cNvPicPr>
          <p:nvPr/>
        </p:nvPicPr>
        <p:blipFill>
          <a:blip r:embed="rId2"/>
          <a:stretch>
            <a:fillRect/>
          </a:stretch>
        </p:blipFill>
        <p:spPr>
          <a:xfrm>
            <a:off x="16087880" y="7227688"/>
            <a:ext cx="1099932" cy="2890181"/>
          </a:xfrm>
          <a:prstGeom prst="rect">
            <a:avLst/>
          </a:prstGeom>
        </p:spPr>
      </p:pic>
      <p:pic>
        <p:nvPicPr>
          <p:cNvPr id="3074" name="Picture 2">
            <a:extLst>
              <a:ext uri="{FF2B5EF4-FFF2-40B4-BE49-F238E27FC236}">
                <a16:creationId xmlns:a16="http://schemas.microsoft.com/office/drawing/2014/main" id="{AB46E08A-F3BF-4DB1-6926-A724481752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187" y="1262523"/>
            <a:ext cx="9444909" cy="802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106592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accent5">
              <a:lumMod val="40000"/>
              <a:lumOff val="60000"/>
            </a:schemeClr>
          </a:fgClr>
          <a:bgClr>
            <a:schemeClr val="bg1"/>
          </a:bgClr>
        </a:patt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692BF0-20A2-4340-A803-B44E59E5A34A}"/>
              </a:ext>
            </a:extLst>
          </p:cNvPr>
          <p:cNvPicPr>
            <a:picLocks noChangeAspect="1"/>
          </p:cNvPicPr>
          <p:nvPr/>
        </p:nvPicPr>
        <p:blipFill>
          <a:blip r:embed="rId2"/>
          <a:stretch>
            <a:fillRect/>
          </a:stretch>
        </p:blipFill>
        <p:spPr>
          <a:xfrm>
            <a:off x="0" y="1161693"/>
            <a:ext cx="8894042" cy="7429686"/>
          </a:xfrm>
          <a:prstGeom prst="rect">
            <a:avLst/>
          </a:prstGeom>
        </p:spPr>
      </p:pic>
      <p:pic>
        <p:nvPicPr>
          <p:cNvPr id="6" name="Picture 5">
            <a:extLst>
              <a:ext uri="{FF2B5EF4-FFF2-40B4-BE49-F238E27FC236}">
                <a16:creationId xmlns:a16="http://schemas.microsoft.com/office/drawing/2014/main" id="{9E5FD53F-C783-4E54-A5BF-FB0D1D807EC9}"/>
              </a:ext>
            </a:extLst>
          </p:cNvPr>
          <p:cNvPicPr>
            <a:picLocks noChangeAspect="1"/>
          </p:cNvPicPr>
          <p:nvPr/>
        </p:nvPicPr>
        <p:blipFill>
          <a:blip r:embed="rId3">
            <a:duotone>
              <a:schemeClr val="bg2">
                <a:shade val="45000"/>
                <a:satMod val="135000"/>
              </a:schemeClr>
              <a:prstClr val="white"/>
            </a:duotone>
          </a:blip>
          <a:stretch>
            <a:fillRect/>
          </a:stretch>
        </p:blipFill>
        <p:spPr>
          <a:xfrm>
            <a:off x="0" y="-216428"/>
            <a:ext cx="18288000" cy="10363727"/>
          </a:xfrm>
          <a:prstGeom prst="rect">
            <a:avLst/>
          </a:prstGeom>
        </p:spPr>
      </p:pic>
      <p:sp>
        <p:nvSpPr>
          <p:cNvPr id="7" name="TextBox 6">
            <a:extLst>
              <a:ext uri="{FF2B5EF4-FFF2-40B4-BE49-F238E27FC236}">
                <a16:creationId xmlns:a16="http://schemas.microsoft.com/office/drawing/2014/main" id="{ABAC88E9-1E10-4EDD-8DF9-8E556FE269C9}"/>
              </a:ext>
            </a:extLst>
          </p:cNvPr>
          <p:cNvSpPr txBox="1"/>
          <p:nvPr/>
        </p:nvSpPr>
        <p:spPr>
          <a:xfrm>
            <a:off x="10012680" y="1695621"/>
            <a:ext cx="7406640" cy="5724644"/>
          </a:xfrm>
          <a:prstGeom prst="rect">
            <a:avLst/>
          </a:prstGeom>
          <a:noFill/>
        </p:spPr>
        <p:txBody>
          <a:bodyPr wrap="square" rtlCol="0">
            <a:spAutoFit/>
          </a:bodyPr>
          <a:lstStyle/>
          <a:p>
            <a:r>
              <a:rPr lang="en-US" sz="3200" b="0" dirty="0">
                <a:solidFill>
                  <a:schemeClr val="tx1"/>
                </a:solidFill>
                <a:effectLst/>
                <a:latin typeface="KoHo" panose="020B0604020202020204" charset="-34"/>
                <a:cs typeface="KoHo" panose="020B0604020202020204" charset="-34"/>
              </a:rPr>
              <a:t>Both free and paid content have the highest proportion of positive sentiment, showing that users generally express more favorable opinions, regardless of whether the content was free or paid.</a:t>
            </a:r>
          </a:p>
          <a:p>
            <a:br>
              <a:rPr lang="en-US" sz="3200" b="0" dirty="0">
                <a:solidFill>
                  <a:schemeClr val="tx1"/>
                </a:solidFill>
                <a:effectLst/>
                <a:latin typeface="KoHo" panose="020B0604020202020204" charset="-34"/>
                <a:cs typeface="KoHo" panose="020B0604020202020204" charset="-34"/>
              </a:rPr>
            </a:br>
            <a:br>
              <a:rPr lang="en-US" sz="3200" b="0" dirty="0">
                <a:solidFill>
                  <a:schemeClr val="tx1"/>
                </a:solidFill>
                <a:effectLst/>
                <a:latin typeface="KoHo" panose="020B0604020202020204" charset="-34"/>
                <a:cs typeface="KoHo" panose="020B0604020202020204" charset="-34"/>
              </a:rPr>
            </a:br>
            <a:r>
              <a:rPr lang="en-US" sz="3200" b="0" dirty="0">
                <a:solidFill>
                  <a:schemeClr val="tx1"/>
                </a:solidFill>
                <a:effectLst/>
                <a:latin typeface="KoHo" panose="020B0604020202020204" charset="-34"/>
                <a:cs typeface="KoHo" panose="020B0604020202020204" charset="-34"/>
              </a:rPr>
              <a:t>Negative sentiment appears slightly more in free content, possibly reflecting dissatisfaction with expectations when the content is free or of lower quality.</a:t>
            </a:r>
          </a:p>
          <a:p>
            <a:endParaRPr lang="en-US" dirty="0"/>
          </a:p>
        </p:txBody>
      </p:sp>
    </p:spTree>
    <p:extLst>
      <p:ext uri="{BB962C8B-B14F-4D97-AF65-F5344CB8AC3E}">
        <p14:creationId xmlns:p14="http://schemas.microsoft.com/office/powerpoint/2010/main" val="3115497636"/>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3000"/>
          </a:schemeClr>
        </a:solidFill>
        <a:effectLst/>
      </p:bgPr>
    </p:bg>
    <p:spTree>
      <p:nvGrpSpPr>
        <p:cNvPr id="1" name="Shape 157"/>
        <p:cNvGrpSpPr/>
        <p:nvPr/>
      </p:nvGrpSpPr>
      <p:grpSpPr>
        <a:xfrm>
          <a:off x="0" y="0"/>
          <a:ext cx="0" cy="0"/>
          <a:chOff x="0" y="0"/>
          <a:chExt cx="0" cy="0"/>
        </a:xfrm>
      </p:grpSpPr>
      <p:pic>
        <p:nvPicPr>
          <p:cNvPr id="158" name="Google Shape;158;p17"/>
          <p:cNvPicPr preferRelativeResize="0"/>
          <p:nvPr/>
        </p:nvPicPr>
        <p:blipFill>
          <a:blip r:embed="rId3">
            <a:alphaModFix/>
          </a:blip>
          <a:stretch>
            <a:fillRect/>
          </a:stretch>
        </p:blipFill>
        <p:spPr>
          <a:xfrm>
            <a:off x="11907950" y="1028700"/>
            <a:ext cx="5541850" cy="3867882"/>
          </a:xfrm>
          <a:prstGeom prst="rect">
            <a:avLst/>
          </a:prstGeom>
          <a:noFill/>
          <a:ln>
            <a:noFill/>
          </a:ln>
        </p:spPr>
      </p:pic>
      <p:sp>
        <p:nvSpPr>
          <p:cNvPr id="159" name="Google Shape;159;p17"/>
          <p:cNvSpPr txBox="1"/>
          <p:nvPr/>
        </p:nvSpPr>
        <p:spPr>
          <a:xfrm>
            <a:off x="1028700" y="5880101"/>
            <a:ext cx="15338700" cy="1231106"/>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0000" dirty="0">
                <a:solidFill>
                  <a:srgbClr val="1C1C1C"/>
                </a:solidFill>
                <a:latin typeface="KoHo" panose="020B0604020202020204" charset="-34"/>
                <a:cs typeface="KoHo" panose="020B0604020202020204" charset="-34"/>
                <a:sym typeface="Paytone One"/>
              </a:rPr>
              <a:t>Modeling &amp; Evaluation</a:t>
            </a:r>
            <a:endParaRPr sz="10000" dirty="0">
              <a:latin typeface="KoHo" panose="020B0604020202020204" charset="-34"/>
              <a:cs typeface="KoHo" panose="020B0604020202020204" charset="-34"/>
            </a:endParaRPr>
          </a:p>
        </p:txBody>
      </p:sp>
      <p:pic>
        <p:nvPicPr>
          <p:cNvPr id="161" name="Google Shape;161;p17"/>
          <p:cNvPicPr preferRelativeResize="0"/>
          <p:nvPr/>
        </p:nvPicPr>
        <p:blipFill>
          <a:blip r:embed="rId4">
            <a:alphaModFix/>
          </a:blip>
          <a:stretch>
            <a:fillRect/>
          </a:stretch>
        </p:blipFill>
        <p:spPr>
          <a:xfrm>
            <a:off x="0" y="1056350"/>
            <a:ext cx="11907952" cy="3364187"/>
          </a:xfrm>
          <a:prstGeom prst="rect">
            <a:avLst/>
          </a:prstGeom>
          <a:noFill/>
          <a:ln>
            <a:noFill/>
          </a:ln>
        </p:spPr>
      </p:pic>
      <p:pic>
        <p:nvPicPr>
          <p:cNvPr id="2" name="Picture 1">
            <a:extLst>
              <a:ext uri="{FF2B5EF4-FFF2-40B4-BE49-F238E27FC236}">
                <a16:creationId xmlns:a16="http://schemas.microsoft.com/office/drawing/2014/main" id="{1BD35469-5A72-42D8-9134-F4675942F027}"/>
              </a:ext>
            </a:extLst>
          </p:cNvPr>
          <p:cNvPicPr>
            <a:picLocks noChangeAspect="1"/>
          </p:cNvPicPr>
          <p:nvPr/>
        </p:nvPicPr>
        <p:blipFill rotWithShape="1">
          <a:blip r:embed="rId5"/>
          <a:srcRect t="-37571"/>
          <a:stretch/>
        </p:blipFill>
        <p:spPr>
          <a:xfrm>
            <a:off x="11907950" y="519601"/>
            <a:ext cx="5456039" cy="390093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accent5">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FC6C140-DCE7-0AC6-90E9-4B129F143DA6}"/>
              </a:ext>
            </a:extLst>
          </p:cNvPr>
          <p:cNvSpPr txBox="1"/>
          <p:nvPr/>
        </p:nvSpPr>
        <p:spPr>
          <a:xfrm>
            <a:off x="10323871" y="1371600"/>
            <a:ext cx="6651523" cy="75405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4400" b="1" dirty="0">
                <a:latin typeface="KoHo" panose="020B0604020202020204" charset="-34"/>
                <a:cs typeface="KoHo" panose="020B0604020202020204" charset="-34"/>
              </a:rPr>
              <a:t>The Modeling Process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rPr>
              <a:t>Choice of Models </a:t>
            </a:r>
            <a:r>
              <a:rPr lang="en-US" sz="2000" dirty="0">
                <a:latin typeface="KoHo" panose="020B0604020202020204" charset="-34"/>
                <a:cs typeface="KoHo" panose="020B0604020202020204" charset="-34"/>
              </a:rPr>
              <a:t>We trained models that are known to perform well in Natural Language  Processing (NLP) tasks such as Sentiment Analysis.  In this project, we trained Multinomial Naïve Bayes (NB), Support Vector Machine(SVM) and Random Forest (RF) models.</a:t>
            </a:r>
            <a:endParaRPr kumimoji="0" lang="en-US" sz="2000" b="0"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rPr>
              <a:t>Iterative Process </a:t>
            </a:r>
            <a:r>
              <a:rPr kumimoji="0" lang="en-US" sz="2000"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rPr>
              <a:t>We trained the baseline models, evaluated the results and obtained the best baseline model- SVM. The best baseline was then taken through an optimization training process, until we got the best results from the validation data.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rPr>
              <a:t>Model Optimization</a:t>
            </a:r>
            <a:r>
              <a:rPr kumimoji="0" lang="en-US" sz="2000" b="0"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rPr>
              <a:t> The SVM model </a:t>
            </a:r>
            <a:r>
              <a:rPr lang="en-US" sz="2000" dirty="0">
                <a:latin typeface="KoHo" panose="020B0604020202020204" charset="-34"/>
                <a:cs typeface="KoHo" panose="020B0604020202020204" charset="-34"/>
              </a:rPr>
              <a:t>w</a:t>
            </a:r>
            <a:r>
              <a:rPr kumimoji="0" lang="en-US" sz="2000" b="0"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rPr>
              <a:t>as optimized using Machine Learning techniques – hyperparameter tuning (finding the best parameters) and class balancing – to reduce the bias of the majority positive class.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rPr>
              <a:t>Model Evaluation </a:t>
            </a:r>
            <a:r>
              <a:rPr kumimoji="0" lang="en-US" sz="2000" b="0"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rPr>
              <a:t>We evaluated the models using various parameters such as  confusion matrix, accuracy, recall (how well a model  identifies true positives</a:t>
            </a:r>
            <a:r>
              <a:rPr lang="en-US" sz="2000" dirty="0">
                <a:latin typeface="KoHo" panose="020B0604020202020204" charset="-34"/>
                <a:cs typeface="KoHo" panose="020B0604020202020204" charset="-34"/>
              </a:rPr>
              <a:t> </a:t>
            </a:r>
            <a:r>
              <a:rPr kumimoji="0" lang="en-US" sz="2000" b="0"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rPr>
              <a:t>- the percentage of items that the model classifies correctly as belonging to a specific class)</a:t>
            </a:r>
          </a:p>
        </p:txBody>
      </p:sp>
      <p:pic>
        <p:nvPicPr>
          <p:cNvPr id="2052" name="Picture 4">
            <a:extLst>
              <a:ext uri="{FF2B5EF4-FFF2-40B4-BE49-F238E27FC236}">
                <a16:creationId xmlns:a16="http://schemas.microsoft.com/office/drawing/2014/main" id="{C627772C-D22D-372D-98F7-8C183490F7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2606" y="1828799"/>
            <a:ext cx="8185356" cy="7443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91967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1000"/>
          </a:schemeClr>
        </a:solidFill>
        <a:effectLst/>
      </p:bgPr>
    </p:bg>
    <p:spTree>
      <p:nvGrpSpPr>
        <p:cNvPr id="1" name="Shape 193"/>
        <p:cNvGrpSpPr/>
        <p:nvPr/>
      </p:nvGrpSpPr>
      <p:grpSpPr>
        <a:xfrm>
          <a:off x="0" y="0"/>
          <a:ext cx="0" cy="0"/>
          <a:chOff x="0" y="0"/>
          <a:chExt cx="0" cy="0"/>
        </a:xfrm>
      </p:grpSpPr>
      <p:sp>
        <p:nvSpPr>
          <p:cNvPr id="194" name="Google Shape;194;p19"/>
          <p:cNvSpPr txBox="1"/>
          <p:nvPr/>
        </p:nvSpPr>
        <p:spPr>
          <a:xfrm>
            <a:off x="3241518" y="1855723"/>
            <a:ext cx="14033022" cy="123110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GB" sz="2000" dirty="0">
                <a:latin typeface="KoHo" panose="020B0604020202020204" charset="-34"/>
                <a:cs typeface="KoHo" panose="020B0604020202020204" charset="-34"/>
              </a:rPr>
              <a:t>The positive class included viewers who rated the content 4 or 5 stars. Our top-performing model accurately identified 3327 out of 4075 positive reviews, achieving a recall rate of 82%. However, 472 reviews were misclassified as neutral, while 279 were incorrectly labelled as negative. Such misclassification is expected in sentiment analysis, as neutral reviews often contain language with both positive and negative tones</a:t>
            </a:r>
            <a:endParaRPr lang="en-US" sz="2000" dirty="0">
              <a:latin typeface="KoHo" panose="020B0604020202020204" charset="-34"/>
              <a:cs typeface="KoHo" panose="020B0604020202020204" charset="-34"/>
            </a:endParaRPr>
          </a:p>
        </p:txBody>
      </p:sp>
      <p:sp>
        <p:nvSpPr>
          <p:cNvPr id="195" name="Google Shape;195;p19"/>
          <p:cNvSpPr txBox="1"/>
          <p:nvPr/>
        </p:nvSpPr>
        <p:spPr>
          <a:xfrm>
            <a:off x="3226278" y="1061373"/>
            <a:ext cx="5417415"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600" b="1" dirty="0">
                <a:solidFill>
                  <a:srgbClr val="1C1C1C"/>
                </a:solidFill>
                <a:latin typeface="KoHo"/>
                <a:cs typeface="KoHo"/>
                <a:sym typeface="KoHo"/>
              </a:rPr>
              <a:t>Positive Class</a:t>
            </a:r>
            <a:endParaRPr sz="3600" dirty="0"/>
          </a:p>
        </p:txBody>
      </p:sp>
      <p:sp>
        <p:nvSpPr>
          <p:cNvPr id="196" name="Google Shape;196;p19"/>
          <p:cNvSpPr txBox="1"/>
          <p:nvPr/>
        </p:nvSpPr>
        <p:spPr>
          <a:xfrm>
            <a:off x="3241518" y="4029406"/>
            <a:ext cx="14033022" cy="123110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GB" sz="2000" b="0" i="0" u="none" strike="noStrike" cap="none" dirty="0">
                <a:solidFill>
                  <a:srgbClr val="1C1C1C"/>
                </a:solidFill>
                <a:latin typeface="KoHo"/>
                <a:ea typeface="KoHo"/>
                <a:cs typeface="KoHo"/>
                <a:sym typeface="KoHo"/>
              </a:rPr>
              <a:t>This class represent viewers who rated the content with 3 stars.  Neutral class is often the most challenging to classify accurately. Our top-performing model correctly classified 456 out of 579 neutral reviews, achieving a recall of 79%. However, misclassifications were predominantly skewed towards the negative class (87 instances) compared to the positive class (36 instances). This trend suggests that viewers giving moderate ratings often leaned towards negative tones in their feedback</a:t>
            </a:r>
            <a:endParaRPr lang="en-US" sz="2000" dirty="0"/>
          </a:p>
        </p:txBody>
      </p:sp>
      <p:sp>
        <p:nvSpPr>
          <p:cNvPr id="197" name="Google Shape;197;p19"/>
          <p:cNvSpPr txBox="1"/>
          <p:nvPr/>
        </p:nvSpPr>
        <p:spPr>
          <a:xfrm>
            <a:off x="3226278" y="3375356"/>
            <a:ext cx="5417415"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600" b="1" dirty="0">
                <a:solidFill>
                  <a:srgbClr val="1C1C1C"/>
                </a:solidFill>
                <a:latin typeface="KoHo"/>
                <a:cs typeface="KoHo"/>
                <a:sym typeface="KoHo"/>
              </a:rPr>
              <a:t>Neutral Class</a:t>
            </a:r>
            <a:endParaRPr sz="3600" dirty="0"/>
          </a:p>
        </p:txBody>
      </p:sp>
      <p:sp>
        <p:nvSpPr>
          <p:cNvPr id="198" name="Google Shape;198;p19"/>
          <p:cNvSpPr txBox="1"/>
          <p:nvPr/>
        </p:nvSpPr>
        <p:spPr>
          <a:xfrm>
            <a:off x="3226278" y="6340806"/>
            <a:ext cx="14033022" cy="9694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100" dirty="0">
                <a:latin typeface="KoHo" panose="020B0604020202020204" charset="-34"/>
                <a:cs typeface="KoHo" panose="020B0604020202020204" charset="-34"/>
              </a:rPr>
              <a:t>This class represent viewers who rated the content 1 or 2 stars. The model was able to identify 651 out of 743 reviews correctly a recall rate of 87%.  Being able to identify negative sentiments is the main goal of a sentiment analysis and this model performed well on this class. 64 samples were mislabeled as negative wile only 28 were mislabeled as positive. </a:t>
            </a:r>
            <a:endParaRPr sz="2100" dirty="0">
              <a:latin typeface="KoHo" panose="020B0604020202020204" charset="-34"/>
              <a:cs typeface="KoHo" panose="020B0604020202020204" charset="-34"/>
            </a:endParaRPr>
          </a:p>
        </p:txBody>
      </p:sp>
      <p:sp>
        <p:nvSpPr>
          <p:cNvPr id="199" name="Google Shape;199;p19"/>
          <p:cNvSpPr txBox="1"/>
          <p:nvPr/>
        </p:nvSpPr>
        <p:spPr>
          <a:xfrm>
            <a:off x="3226278" y="5718202"/>
            <a:ext cx="5417415" cy="6154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999" b="1" dirty="0">
                <a:solidFill>
                  <a:srgbClr val="1C1C1C"/>
                </a:solidFill>
                <a:latin typeface="KoHo"/>
                <a:cs typeface="KoHo"/>
                <a:sym typeface="KoHo"/>
              </a:rPr>
              <a:t>Negative Class</a:t>
            </a:r>
            <a:endParaRPr dirty="0"/>
          </a:p>
        </p:txBody>
      </p:sp>
      <p:cxnSp>
        <p:nvCxnSpPr>
          <p:cNvPr id="202" name="Google Shape;202;p19"/>
          <p:cNvCxnSpPr/>
          <p:nvPr/>
        </p:nvCxnSpPr>
        <p:spPr>
          <a:xfrm>
            <a:off x="3226278" y="3375356"/>
            <a:ext cx="13851850" cy="0"/>
          </a:xfrm>
          <a:prstGeom prst="straightConnector1">
            <a:avLst/>
          </a:prstGeom>
          <a:noFill/>
          <a:ln w="19050" cap="flat" cmpd="sng">
            <a:solidFill>
              <a:srgbClr val="000000"/>
            </a:solidFill>
            <a:prstDash val="solid"/>
            <a:round/>
            <a:headEnd type="none" w="sm" len="sm"/>
            <a:tailEnd type="none" w="sm" len="sm"/>
          </a:ln>
        </p:spPr>
      </p:cxnSp>
      <p:cxnSp>
        <p:nvCxnSpPr>
          <p:cNvPr id="203" name="Google Shape;203;p19"/>
          <p:cNvCxnSpPr/>
          <p:nvPr/>
        </p:nvCxnSpPr>
        <p:spPr>
          <a:xfrm>
            <a:off x="3226278" y="5485529"/>
            <a:ext cx="13851850" cy="0"/>
          </a:xfrm>
          <a:prstGeom prst="straightConnector1">
            <a:avLst/>
          </a:prstGeom>
          <a:noFill/>
          <a:ln w="19050" cap="flat" cmpd="sng">
            <a:solidFill>
              <a:srgbClr val="000000"/>
            </a:solidFill>
            <a:prstDash val="solid"/>
            <a:round/>
            <a:headEnd type="none" w="sm" len="sm"/>
            <a:tailEnd type="none" w="sm" len="sm"/>
          </a:ln>
        </p:spPr>
      </p:cxnSp>
      <p:cxnSp>
        <p:nvCxnSpPr>
          <p:cNvPr id="204" name="Google Shape;204;p19"/>
          <p:cNvCxnSpPr/>
          <p:nvPr/>
        </p:nvCxnSpPr>
        <p:spPr>
          <a:xfrm>
            <a:off x="3226278" y="7504777"/>
            <a:ext cx="13851850" cy="0"/>
          </a:xfrm>
          <a:prstGeom prst="straightConnector1">
            <a:avLst/>
          </a:prstGeom>
          <a:noFill/>
          <a:ln w="19050" cap="flat" cmpd="sng">
            <a:solidFill>
              <a:srgbClr val="000000"/>
            </a:solidFill>
            <a:prstDash val="solid"/>
            <a:round/>
            <a:headEnd type="none" w="sm" len="sm"/>
            <a:tailEnd type="none" w="sm" len="sm"/>
          </a:ln>
        </p:spPr>
      </p:cxnSp>
      <p:pic>
        <p:nvPicPr>
          <p:cNvPr id="205" name="Google Shape;205;p19"/>
          <p:cNvPicPr preferRelativeResize="0"/>
          <p:nvPr/>
        </p:nvPicPr>
        <p:blipFill>
          <a:blip r:embed="rId3">
            <a:alphaModFix/>
          </a:blip>
          <a:stretch>
            <a:fillRect/>
          </a:stretch>
        </p:blipFill>
        <p:spPr>
          <a:xfrm>
            <a:off x="1239902" y="1180426"/>
            <a:ext cx="1367124" cy="1630560"/>
          </a:xfrm>
          <a:prstGeom prst="rect">
            <a:avLst/>
          </a:prstGeom>
          <a:noFill/>
          <a:ln>
            <a:noFill/>
          </a:ln>
        </p:spPr>
      </p:pic>
      <p:pic>
        <p:nvPicPr>
          <p:cNvPr id="206" name="Google Shape;206;p19"/>
          <p:cNvPicPr preferRelativeResize="0"/>
          <p:nvPr/>
        </p:nvPicPr>
        <p:blipFill>
          <a:blip r:embed="rId3">
            <a:alphaModFix/>
          </a:blip>
          <a:stretch>
            <a:fillRect/>
          </a:stretch>
        </p:blipFill>
        <p:spPr>
          <a:xfrm>
            <a:off x="1239902" y="3495601"/>
            <a:ext cx="1367124" cy="1630560"/>
          </a:xfrm>
          <a:prstGeom prst="rect">
            <a:avLst/>
          </a:prstGeom>
          <a:noFill/>
          <a:ln>
            <a:noFill/>
          </a:ln>
        </p:spPr>
      </p:pic>
      <p:pic>
        <p:nvPicPr>
          <p:cNvPr id="207" name="Google Shape;207;p19"/>
          <p:cNvPicPr preferRelativeResize="0"/>
          <p:nvPr/>
        </p:nvPicPr>
        <p:blipFill>
          <a:blip r:embed="rId3">
            <a:alphaModFix/>
          </a:blip>
          <a:stretch>
            <a:fillRect/>
          </a:stretch>
        </p:blipFill>
        <p:spPr>
          <a:xfrm>
            <a:off x="1184950" y="5633576"/>
            <a:ext cx="1367124" cy="1630560"/>
          </a:xfrm>
          <a:prstGeom prst="rect">
            <a:avLst/>
          </a:prstGeom>
          <a:noFill/>
          <a:ln>
            <a:noFill/>
          </a:ln>
        </p:spPr>
      </p:pic>
      <p:pic>
        <p:nvPicPr>
          <p:cNvPr id="208" name="Google Shape;208;p19"/>
          <p:cNvPicPr preferRelativeResize="0"/>
          <p:nvPr/>
        </p:nvPicPr>
        <p:blipFill>
          <a:blip r:embed="rId3">
            <a:alphaModFix/>
          </a:blip>
          <a:stretch>
            <a:fillRect/>
          </a:stretch>
        </p:blipFill>
        <p:spPr>
          <a:xfrm>
            <a:off x="1184950" y="7800704"/>
            <a:ext cx="1367124" cy="1630560"/>
          </a:xfrm>
          <a:prstGeom prst="rect">
            <a:avLst/>
          </a:prstGeom>
          <a:noFill/>
          <a:ln>
            <a:noFill/>
          </a:ln>
        </p:spPr>
      </p:pic>
      <p:sp>
        <p:nvSpPr>
          <p:cNvPr id="5" name="Google Shape;199;p19">
            <a:extLst>
              <a:ext uri="{FF2B5EF4-FFF2-40B4-BE49-F238E27FC236}">
                <a16:creationId xmlns:a16="http://schemas.microsoft.com/office/drawing/2014/main" id="{1D9D7FBD-87CF-A967-B108-25388E77C8F2}"/>
              </a:ext>
            </a:extLst>
          </p:cNvPr>
          <p:cNvSpPr txBox="1"/>
          <p:nvPr/>
        </p:nvSpPr>
        <p:spPr>
          <a:xfrm>
            <a:off x="3241518" y="7492991"/>
            <a:ext cx="5417415" cy="6154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999" b="1" dirty="0">
                <a:solidFill>
                  <a:srgbClr val="1C1C1C"/>
                </a:solidFill>
                <a:latin typeface="KoHo"/>
                <a:cs typeface="KoHo"/>
                <a:sym typeface="KoHo"/>
              </a:rPr>
              <a:t>Overall</a:t>
            </a:r>
            <a:endParaRPr dirty="0"/>
          </a:p>
        </p:txBody>
      </p:sp>
      <p:sp>
        <p:nvSpPr>
          <p:cNvPr id="10" name="TextBox 9">
            <a:extLst>
              <a:ext uri="{FF2B5EF4-FFF2-40B4-BE49-F238E27FC236}">
                <a16:creationId xmlns:a16="http://schemas.microsoft.com/office/drawing/2014/main" id="{C82FFB6B-FA9C-C5B8-4954-A9D1CF310269}"/>
              </a:ext>
            </a:extLst>
          </p:cNvPr>
          <p:cNvSpPr txBox="1"/>
          <p:nvPr/>
        </p:nvSpPr>
        <p:spPr>
          <a:xfrm>
            <a:off x="3226278" y="8241618"/>
            <a:ext cx="14033022"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100" b="0" i="0" u="none" strike="noStrike" kern="0" cap="none" spc="0" normalizeH="0" baseline="0" noProof="0" dirty="0">
                <a:ln>
                  <a:noFill/>
                </a:ln>
                <a:solidFill>
                  <a:srgbClr val="1C1C1C"/>
                </a:solidFill>
                <a:effectLst/>
                <a:uLnTx/>
                <a:uFillTx/>
                <a:latin typeface="KoHo"/>
                <a:ea typeface="KoHo"/>
                <a:cs typeface="KoHo"/>
                <a:sym typeface="KoHo"/>
              </a:rPr>
              <a:t>The model showed varied performance across sentiment classes. Negative sentiment had a recall of 87%, with occasional confusion between neutral and positive reviews. Neutral sentiment was harder to classify, achieving a recall of 78% due to subtle cues. Positive sentiment recall was 82%, with some misclassifications. Overall accuracy was 82%, indicating effectiveness but revealing challenges in generalizing across nuanced tones, especially for neutral reviews.</a:t>
            </a:r>
            <a:endParaRPr kumimoji="0" lang="en-US" sz="210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3000"/>
          </a:schemeClr>
        </a:solidFill>
        <a:effectLst/>
      </p:bgPr>
    </p:bg>
    <p:spTree>
      <p:nvGrpSpPr>
        <p:cNvPr id="1" name="Shape 157"/>
        <p:cNvGrpSpPr/>
        <p:nvPr/>
      </p:nvGrpSpPr>
      <p:grpSpPr>
        <a:xfrm>
          <a:off x="0" y="0"/>
          <a:ext cx="0" cy="0"/>
          <a:chOff x="0" y="0"/>
          <a:chExt cx="0" cy="0"/>
        </a:xfrm>
      </p:grpSpPr>
      <p:pic>
        <p:nvPicPr>
          <p:cNvPr id="3" name="Picture 2">
            <a:extLst>
              <a:ext uri="{FF2B5EF4-FFF2-40B4-BE49-F238E27FC236}">
                <a16:creationId xmlns:a16="http://schemas.microsoft.com/office/drawing/2014/main" id="{FDE0C739-CCB1-4687-9172-028B1D17A444}"/>
              </a:ext>
            </a:extLst>
          </p:cNvPr>
          <p:cNvPicPr>
            <a:picLocks noChangeAspect="1"/>
          </p:cNvPicPr>
          <p:nvPr/>
        </p:nvPicPr>
        <p:blipFill rotWithShape="1">
          <a:blip r:embed="rId3"/>
          <a:srcRect t="9025" b="10734"/>
          <a:stretch/>
        </p:blipFill>
        <p:spPr>
          <a:xfrm>
            <a:off x="12032651" y="1371600"/>
            <a:ext cx="5292450" cy="3048937"/>
          </a:xfrm>
          <a:prstGeom prst="rect">
            <a:avLst/>
          </a:prstGeom>
        </p:spPr>
      </p:pic>
      <p:pic>
        <p:nvPicPr>
          <p:cNvPr id="158" name="Google Shape;158;p17"/>
          <p:cNvPicPr preferRelativeResize="0"/>
          <p:nvPr/>
        </p:nvPicPr>
        <p:blipFill>
          <a:blip r:embed="rId4">
            <a:alphaModFix/>
          </a:blip>
          <a:stretch>
            <a:fillRect/>
          </a:stretch>
        </p:blipFill>
        <p:spPr>
          <a:xfrm>
            <a:off x="11907950" y="787400"/>
            <a:ext cx="5668850" cy="4152900"/>
          </a:xfrm>
          <a:prstGeom prst="rect">
            <a:avLst/>
          </a:prstGeom>
          <a:noFill/>
          <a:ln>
            <a:noFill/>
          </a:ln>
        </p:spPr>
      </p:pic>
      <p:sp>
        <p:nvSpPr>
          <p:cNvPr id="159" name="Google Shape;159;p17"/>
          <p:cNvSpPr txBox="1"/>
          <p:nvPr/>
        </p:nvSpPr>
        <p:spPr>
          <a:xfrm>
            <a:off x="1028700" y="5880101"/>
            <a:ext cx="15338700" cy="160031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2999" dirty="0">
                <a:solidFill>
                  <a:srgbClr val="1C1C1C"/>
                </a:solidFill>
                <a:latin typeface="KoHo" panose="020B0604020202020204" charset="-34"/>
                <a:cs typeface="KoHo" panose="020B0604020202020204" charset="-34"/>
                <a:sym typeface="Paytone One"/>
              </a:rPr>
              <a:t>Recommendations</a:t>
            </a:r>
            <a:endParaRPr dirty="0">
              <a:latin typeface="KoHo" panose="020B0604020202020204" charset="-34"/>
              <a:cs typeface="KoHo" panose="020B0604020202020204" charset="-34"/>
            </a:endParaRPr>
          </a:p>
        </p:txBody>
      </p:sp>
      <p:pic>
        <p:nvPicPr>
          <p:cNvPr id="161" name="Google Shape;161;p17"/>
          <p:cNvPicPr preferRelativeResize="0"/>
          <p:nvPr/>
        </p:nvPicPr>
        <p:blipFill>
          <a:blip r:embed="rId5">
            <a:alphaModFix/>
          </a:blip>
          <a:stretch>
            <a:fillRect/>
          </a:stretch>
        </p:blipFill>
        <p:spPr>
          <a:xfrm>
            <a:off x="0" y="1056350"/>
            <a:ext cx="11907952" cy="3364187"/>
          </a:xfrm>
          <a:prstGeom prst="rect">
            <a:avLst/>
          </a:prstGeom>
          <a:noFill/>
          <a:ln>
            <a:noFill/>
          </a:ln>
        </p:spPr>
      </p:pic>
    </p:spTree>
    <p:extLst>
      <p:ext uri="{BB962C8B-B14F-4D97-AF65-F5344CB8AC3E}">
        <p14:creationId xmlns:p14="http://schemas.microsoft.com/office/powerpoint/2010/main" val="73875477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1000"/>
          </a:schemeClr>
        </a:solidFill>
        <a:effectLst/>
      </p:bgPr>
    </p:bg>
    <p:spTree>
      <p:nvGrpSpPr>
        <p:cNvPr id="1" name="Shape 193"/>
        <p:cNvGrpSpPr/>
        <p:nvPr/>
      </p:nvGrpSpPr>
      <p:grpSpPr>
        <a:xfrm>
          <a:off x="0" y="0"/>
          <a:ext cx="0" cy="0"/>
          <a:chOff x="0" y="0"/>
          <a:chExt cx="0" cy="0"/>
        </a:xfrm>
      </p:grpSpPr>
      <p:sp>
        <p:nvSpPr>
          <p:cNvPr id="194" name="Google Shape;194;p19"/>
          <p:cNvSpPr txBox="1"/>
          <p:nvPr/>
        </p:nvSpPr>
        <p:spPr>
          <a:xfrm>
            <a:off x="3226278" y="1715423"/>
            <a:ext cx="14033022" cy="969496"/>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0"/>
              </a:spcBef>
              <a:spcAft>
                <a:spcPts val="0"/>
              </a:spcAft>
              <a:buFont typeface="Arial" panose="020B0604020202020204" pitchFamily="34" charset="0"/>
              <a:buChar char="•"/>
            </a:pPr>
            <a:r>
              <a:rPr lang="en-GB" sz="2100" dirty="0">
                <a:latin typeface="KoHo "/>
                <a:cs typeface="KoHo" panose="020B0604020202020204" charset="-34"/>
              </a:rPr>
              <a:t>Analyze positive sentiment drivers to identify and replicate effective strategies.</a:t>
            </a:r>
          </a:p>
          <a:p>
            <a:pPr marL="342900" marR="0" lvl="0" indent="-342900" algn="l" rtl="0">
              <a:lnSpc>
                <a:spcPct val="100000"/>
              </a:lnSpc>
              <a:spcBef>
                <a:spcPts val="0"/>
              </a:spcBef>
              <a:spcAft>
                <a:spcPts val="0"/>
              </a:spcAft>
              <a:buFont typeface="Arial" panose="020B0604020202020204" pitchFamily="34" charset="0"/>
              <a:buChar char="•"/>
            </a:pPr>
            <a:r>
              <a:rPr lang="en-GB" sz="2100" b="0" i="0" dirty="0">
                <a:solidFill>
                  <a:srgbClr val="000000"/>
                </a:solidFill>
                <a:effectLst/>
                <a:latin typeface="KoHo "/>
              </a:rPr>
              <a:t>Showcase popular genres prominently, such as Animation, Kids, Fantasy, and more </a:t>
            </a:r>
          </a:p>
          <a:p>
            <a:pPr marL="342900" marR="0" lvl="0" indent="-342900" algn="l" rtl="0">
              <a:lnSpc>
                <a:spcPct val="100000"/>
              </a:lnSpc>
              <a:spcBef>
                <a:spcPts val="0"/>
              </a:spcBef>
              <a:spcAft>
                <a:spcPts val="0"/>
              </a:spcAft>
              <a:buFont typeface="Arial" panose="020B0604020202020204" pitchFamily="34" charset="0"/>
              <a:buChar char="•"/>
            </a:pPr>
            <a:r>
              <a:rPr lang="en-GB" sz="2100" dirty="0">
                <a:latin typeface="KoHo "/>
              </a:rPr>
              <a:t> Invest in original content within these favoured categories to sustain engagement and expand the audience</a:t>
            </a:r>
            <a:endParaRPr lang="en-US" sz="2000" dirty="0">
              <a:latin typeface="KoHo "/>
              <a:cs typeface="KoHo" panose="020B0604020202020204" charset="-34"/>
            </a:endParaRPr>
          </a:p>
        </p:txBody>
      </p:sp>
      <p:sp>
        <p:nvSpPr>
          <p:cNvPr id="195" name="Google Shape;195;p19"/>
          <p:cNvSpPr txBox="1"/>
          <p:nvPr/>
        </p:nvSpPr>
        <p:spPr>
          <a:xfrm>
            <a:off x="3241518" y="1061372"/>
            <a:ext cx="12242322" cy="707886"/>
          </a:xfrm>
          <a:prstGeom prst="rect">
            <a:avLst/>
          </a:prstGeom>
          <a:noFill/>
          <a:ln>
            <a:noFill/>
          </a:ln>
        </p:spPr>
        <p:txBody>
          <a:bodyPr spcFirstLastPara="1" wrap="square" lIns="0" tIns="0" rIns="0" bIns="0" anchor="t" anchorCtr="0">
            <a:spAutoFit/>
          </a:bodyPr>
          <a:lstStyle/>
          <a:p>
            <a:r>
              <a:rPr lang="en-US" sz="3200" b="1" dirty="0">
                <a:solidFill>
                  <a:schemeClr val="tx1"/>
                </a:solidFill>
                <a:effectLst/>
                <a:latin typeface="KoHo" panose="020B0604020202020204" charset="-34"/>
                <a:cs typeface="KoHo" panose="020B0604020202020204" charset="-34"/>
              </a:rPr>
              <a:t>Leverage Positive Feedback and Popular Genres</a:t>
            </a:r>
            <a:endParaRPr lang="en-US" sz="3200" b="0" dirty="0">
              <a:solidFill>
                <a:schemeClr val="tx1"/>
              </a:solidFill>
              <a:effectLst/>
              <a:latin typeface="KoHo" panose="020B0604020202020204" charset="-34"/>
              <a:cs typeface="KoHo" panose="020B0604020202020204" charset="-34"/>
            </a:endParaRPr>
          </a:p>
          <a:p>
            <a:pPr marL="0" marR="0" lvl="0" indent="0" algn="l" rtl="0">
              <a:lnSpc>
                <a:spcPct val="100000"/>
              </a:lnSpc>
              <a:spcBef>
                <a:spcPts val="0"/>
              </a:spcBef>
              <a:spcAft>
                <a:spcPts val="0"/>
              </a:spcAft>
              <a:buNone/>
            </a:pPr>
            <a:endParaRPr dirty="0"/>
          </a:p>
        </p:txBody>
      </p:sp>
      <p:sp>
        <p:nvSpPr>
          <p:cNvPr id="196" name="Google Shape;196;p19"/>
          <p:cNvSpPr txBox="1"/>
          <p:nvPr/>
        </p:nvSpPr>
        <p:spPr>
          <a:xfrm>
            <a:off x="3150932" y="3706542"/>
            <a:ext cx="14033022" cy="1615827"/>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0"/>
              </a:spcBef>
              <a:spcAft>
                <a:spcPts val="0"/>
              </a:spcAft>
              <a:buFont typeface="Arial" panose="020B0604020202020204" pitchFamily="34" charset="0"/>
              <a:buChar char="•"/>
            </a:pPr>
            <a:r>
              <a:rPr lang="en-US" sz="2100" b="0" i="0" u="none" strike="noStrike" cap="none" dirty="0">
                <a:solidFill>
                  <a:srgbClr val="1C1C1C"/>
                </a:solidFill>
                <a:latin typeface="KoHo "/>
                <a:ea typeface="KoHo"/>
                <a:cs typeface="KoHo"/>
                <a:sym typeface="KoHo"/>
              </a:rPr>
              <a:t>Identify and prioritize recurring themes or features associated with negative feedback (e.g. story lines, character development </a:t>
            </a:r>
            <a:r>
              <a:rPr lang="en-US" sz="2100" dirty="0">
                <a:solidFill>
                  <a:srgbClr val="1C1C1C"/>
                </a:solidFill>
                <a:latin typeface="KoHo "/>
                <a:ea typeface="KoHo"/>
                <a:cs typeface="KoHo"/>
                <a:sym typeface="KoHo"/>
              </a:rPr>
              <a:t>, </a:t>
            </a:r>
            <a:r>
              <a:rPr lang="en-US" sz="2100" b="0" i="0" u="none" strike="noStrike" cap="none" dirty="0">
                <a:solidFill>
                  <a:srgbClr val="1C1C1C"/>
                </a:solidFill>
                <a:latin typeface="KoHo "/>
                <a:ea typeface="KoHo"/>
                <a:cs typeface="KoHo"/>
                <a:sym typeface="KoHo"/>
              </a:rPr>
              <a:t>streaming quality etc. ). </a:t>
            </a:r>
          </a:p>
          <a:p>
            <a:pPr marL="342900" marR="0" lvl="0" indent="-342900" algn="l" rtl="0">
              <a:lnSpc>
                <a:spcPct val="100000"/>
              </a:lnSpc>
              <a:spcBef>
                <a:spcPts val="0"/>
              </a:spcBef>
              <a:spcAft>
                <a:spcPts val="0"/>
              </a:spcAft>
              <a:buFont typeface="Arial" panose="020B0604020202020204" pitchFamily="34" charset="0"/>
              <a:buChar char="•"/>
            </a:pPr>
            <a:r>
              <a:rPr lang="en-GB" sz="2100" b="0" i="0" dirty="0">
                <a:solidFill>
                  <a:srgbClr val="000000"/>
                </a:solidFill>
                <a:effectLst/>
                <a:latin typeface="KoHo "/>
              </a:rPr>
              <a:t>Focus on the most critical pain points that impact overall viewer experience. Use metrics like frequency of mentions or intensity of dissatisfaction to determine priority areas.</a:t>
            </a:r>
            <a:endParaRPr lang="en-US" sz="2100" b="0" i="0" u="none" strike="noStrike" cap="none" dirty="0">
              <a:solidFill>
                <a:srgbClr val="1C1C1C"/>
              </a:solidFill>
              <a:latin typeface="KoHo "/>
              <a:ea typeface="KoHo"/>
              <a:cs typeface="KoHo"/>
              <a:sym typeface="KoHo"/>
            </a:endParaRPr>
          </a:p>
          <a:p>
            <a:pPr marL="342900" marR="0" lvl="0" indent="-342900" algn="l" rtl="0">
              <a:lnSpc>
                <a:spcPct val="100000"/>
              </a:lnSpc>
              <a:spcBef>
                <a:spcPts val="0"/>
              </a:spcBef>
              <a:spcAft>
                <a:spcPts val="0"/>
              </a:spcAft>
              <a:buFont typeface="Arial" panose="020B0604020202020204" pitchFamily="34" charset="0"/>
              <a:buChar char="•"/>
            </a:pPr>
            <a:r>
              <a:rPr lang="en-GB" sz="2100" b="0" i="0" dirty="0">
                <a:solidFill>
                  <a:srgbClr val="000000"/>
                </a:solidFill>
                <a:effectLst/>
                <a:latin typeface="KoHo "/>
              </a:rPr>
              <a:t> Collaborate with seasoned creators to develop fresh, engaging content that revitalizes these genres.</a:t>
            </a:r>
            <a:endParaRPr lang="en-US" sz="2100" dirty="0">
              <a:latin typeface="KoHo "/>
            </a:endParaRPr>
          </a:p>
        </p:txBody>
      </p:sp>
      <p:sp>
        <p:nvSpPr>
          <p:cNvPr id="197" name="Google Shape;197;p19"/>
          <p:cNvSpPr txBox="1"/>
          <p:nvPr/>
        </p:nvSpPr>
        <p:spPr>
          <a:xfrm>
            <a:off x="3226278" y="3157576"/>
            <a:ext cx="12257562"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dirty="0">
                <a:solidFill>
                  <a:srgbClr val="1C1C1C"/>
                </a:solidFill>
                <a:latin typeface="KoHo"/>
                <a:cs typeface="KoHo"/>
                <a:sym typeface="KoHo"/>
              </a:rPr>
              <a:t>Address Negative Feedback</a:t>
            </a:r>
            <a:endParaRPr sz="3200" dirty="0"/>
          </a:p>
        </p:txBody>
      </p:sp>
      <p:sp>
        <p:nvSpPr>
          <p:cNvPr id="198" name="Google Shape;198;p19"/>
          <p:cNvSpPr txBox="1"/>
          <p:nvPr/>
        </p:nvSpPr>
        <p:spPr>
          <a:xfrm>
            <a:off x="3258431" y="6064349"/>
            <a:ext cx="14033022" cy="1923604"/>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0"/>
              </a:spcBef>
              <a:spcAft>
                <a:spcPts val="0"/>
              </a:spcAft>
              <a:buFont typeface="Arial" panose="020B0604020202020204" pitchFamily="34" charset="0"/>
              <a:buChar char="•"/>
            </a:pPr>
            <a:r>
              <a:rPr lang="en-GB" sz="2100" b="0" i="0" dirty="0">
                <a:solidFill>
                  <a:srgbClr val="000000"/>
                </a:solidFill>
                <a:effectLst/>
                <a:latin typeface="KoHo "/>
              </a:rPr>
              <a:t>Categorize the neutral specific themes, such as content quality, casting, genre preferences, technical issues </a:t>
            </a:r>
          </a:p>
          <a:p>
            <a:pPr marL="342900" marR="0" lvl="0" indent="-342900" algn="l" rtl="0">
              <a:lnSpc>
                <a:spcPct val="100000"/>
              </a:lnSpc>
              <a:spcBef>
                <a:spcPts val="0"/>
              </a:spcBef>
              <a:spcAft>
                <a:spcPts val="0"/>
              </a:spcAft>
              <a:buFont typeface="Arial" panose="020B0604020202020204" pitchFamily="34" charset="0"/>
              <a:buChar char="•"/>
            </a:pPr>
            <a:r>
              <a:rPr lang="en-GB" sz="2100" b="0" i="0" dirty="0">
                <a:solidFill>
                  <a:srgbClr val="000000"/>
                </a:solidFill>
                <a:effectLst/>
                <a:latin typeface="KoHo "/>
              </a:rPr>
              <a:t>Analyze the reasons behind neutral sentiment for genres like LGBTQ and Music. Look for patterns such as unrelatable content or lack of representation.</a:t>
            </a:r>
          </a:p>
          <a:p>
            <a:pPr marL="342900" marR="0" lvl="0" indent="-342900" algn="l" rtl="0">
              <a:lnSpc>
                <a:spcPct val="100000"/>
              </a:lnSpc>
              <a:spcBef>
                <a:spcPts val="0"/>
              </a:spcBef>
              <a:spcAft>
                <a:spcPts val="0"/>
              </a:spcAft>
              <a:buFont typeface="Arial" panose="020B0604020202020204" pitchFamily="34" charset="0"/>
              <a:buChar char="•"/>
            </a:pPr>
            <a:r>
              <a:rPr lang="en-GB" sz="2100" b="0" i="0" dirty="0">
                <a:solidFill>
                  <a:srgbClr val="000000"/>
                </a:solidFill>
                <a:effectLst/>
                <a:latin typeface="KoHo "/>
              </a:rPr>
              <a:t>Develop programming that aligns with audience expectations—for example, content with authentic stories or introducing fresh concepts in Music, like concert documentaries or artist-focused series.</a:t>
            </a:r>
          </a:p>
          <a:p>
            <a:pPr marL="0" marR="0" lvl="0" indent="0" algn="l" rtl="0">
              <a:lnSpc>
                <a:spcPct val="100000"/>
              </a:lnSpc>
              <a:spcBef>
                <a:spcPts val="0"/>
              </a:spcBef>
              <a:spcAft>
                <a:spcPts val="0"/>
              </a:spcAft>
              <a:buNone/>
            </a:pPr>
            <a:endParaRPr sz="2000" dirty="0">
              <a:latin typeface="KoHo" panose="020B0604020202020204" charset="-34"/>
              <a:cs typeface="KoHo" panose="020B0604020202020204" charset="-34"/>
            </a:endParaRPr>
          </a:p>
        </p:txBody>
      </p:sp>
      <p:sp>
        <p:nvSpPr>
          <p:cNvPr id="199" name="Google Shape;199;p19"/>
          <p:cNvSpPr txBox="1"/>
          <p:nvPr/>
        </p:nvSpPr>
        <p:spPr>
          <a:xfrm>
            <a:off x="3226278" y="5528718"/>
            <a:ext cx="1385185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dirty="0">
                <a:solidFill>
                  <a:srgbClr val="1C1C1C"/>
                </a:solidFill>
                <a:latin typeface="KoHo"/>
                <a:cs typeface="KoHo"/>
                <a:sym typeface="KoHo"/>
              </a:rPr>
              <a:t> Refine Neutral Segment Categories</a:t>
            </a:r>
            <a:endParaRPr sz="3200" dirty="0"/>
          </a:p>
        </p:txBody>
      </p:sp>
      <p:sp>
        <p:nvSpPr>
          <p:cNvPr id="200" name="Google Shape;200;p19"/>
          <p:cNvSpPr txBox="1"/>
          <p:nvPr/>
        </p:nvSpPr>
        <p:spPr>
          <a:xfrm>
            <a:off x="3258431" y="7923413"/>
            <a:ext cx="14033022" cy="49244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1" i="0" u="none" strike="noStrike" kern="0" cap="none" spc="0" normalizeH="0" baseline="0" noProof="0" dirty="0">
                <a:ln>
                  <a:noFill/>
                </a:ln>
                <a:solidFill>
                  <a:srgbClr val="1C1C1C"/>
                </a:solidFill>
                <a:effectLst/>
                <a:uLnTx/>
                <a:uFillTx/>
                <a:latin typeface="KoHo"/>
                <a:cs typeface="KoHo"/>
                <a:sym typeface="KoHo"/>
              </a:rPr>
              <a:t>Boost Personalization Algorithms</a:t>
            </a:r>
            <a:endParaRPr kumimoji="0" lang="en-US" sz="32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02" name="Google Shape;202;p19"/>
          <p:cNvCxnSpPr/>
          <p:nvPr/>
        </p:nvCxnSpPr>
        <p:spPr>
          <a:xfrm>
            <a:off x="3241518" y="3055316"/>
            <a:ext cx="13851850" cy="0"/>
          </a:xfrm>
          <a:prstGeom prst="straightConnector1">
            <a:avLst/>
          </a:prstGeom>
          <a:noFill/>
          <a:ln w="19050" cap="flat" cmpd="sng">
            <a:solidFill>
              <a:srgbClr val="000000"/>
            </a:solidFill>
            <a:prstDash val="solid"/>
            <a:round/>
            <a:headEnd type="none" w="sm" len="sm"/>
            <a:tailEnd type="none" w="sm" len="sm"/>
          </a:ln>
        </p:spPr>
      </p:cxnSp>
      <p:cxnSp>
        <p:nvCxnSpPr>
          <p:cNvPr id="203" name="Google Shape;203;p19"/>
          <p:cNvCxnSpPr/>
          <p:nvPr/>
        </p:nvCxnSpPr>
        <p:spPr>
          <a:xfrm>
            <a:off x="3226278" y="5485529"/>
            <a:ext cx="13851850" cy="0"/>
          </a:xfrm>
          <a:prstGeom prst="straightConnector1">
            <a:avLst/>
          </a:prstGeom>
          <a:noFill/>
          <a:ln w="19050" cap="flat" cmpd="sng">
            <a:solidFill>
              <a:srgbClr val="000000"/>
            </a:solidFill>
            <a:prstDash val="solid"/>
            <a:round/>
            <a:headEnd type="none" w="sm" len="sm"/>
            <a:tailEnd type="none" w="sm" len="sm"/>
          </a:ln>
        </p:spPr>
      </p:cxnSp>
      <p:cxnSp>
        <p:nvCxnSpPr>
          <p:cNvPr id="204" name="Google Shape;204;p19"/>
          <p:cNvCxnSpPr/>
          <p:nvPr/>
        </p:nvCxnSpPr>
        <p:spPr>
          <a:xfrm>
            <a:off x="3241518" y="7770545"/>
            <a:ext cx="13851850" cy="0"/>
          </a:xfrm>
          <a:prstGeom prst="straightConnector1">
            <a:avLst/>
          </a:prstGeom>
          <a:noFill/>
          <a:ln w="19050" cap="flat" cmpd="sng">
            <a:solidFill>
              <a:srgbClr val="000000"/>
            </a:solidFill>
            <a:prstDash val="solid"/>
            <a:round/>
            <a:headEnd type="none" w="sm" len="sm"/>
            <a:tailEnd type="none" w="sm" len="sm"/>
          </a:ln>
        </p:spPr>
      </p:cxnSp>
      <p:pic>
        <p:nvPicPr>
          <p:cNvPr id="205" name="Google Shape;205;p19"/>
          <p:cNvPicPr preferRelativeResize="0"/>
          <p:nvPr/>
        </p:nvPicPr>
        <p:blipFill>
          <a:blip r:embed="rId3">
            <a:alphaModFix/>
          </a:blip>
          <a:stretch>
            <a:fillRect/>
          </a:stretch>
        </p:blipFill>
        <p:spPr>
          <a:xfrm>
            <a:off x="1239902" y="1180426"/>
            <a:ext cx="1312172" cy="1334174"/>
          </a:xfrm>
          <a:prstGeom prst="rect">
            <a:avLst/>
          </a:prstGeom>
          <a:noFill/>
          <a:ln>
            <a:noFill/>
          </a:ln>
        </p:spPr>
      </p:pic>
      <p:pic>
        <p:nvPicPr>
          <p:cNvPr id="206" name="Google Shape;206;p19"/>
          <p:cNvPicPr preferRelativeResize="0"/>
          <p:nvPr/>
        </p:nvPicPr>
        <p:blipFill>
          <a:blip r:embed="rId3">
            <a:alphaModFix/>
          </a:blip>
          <a:stretch>
            <a:fillRect/>
          </a:stretch>
        </p:blipFill>
        <p:spPr>
          <a:xfrm>
            <a:off x="1191944" y="3302352"/>
            <a:ext cx="1360130" cy="1662674"/>
          </a:xfrm>
          <a:prstGeom prst="rect">
            <a:avLst/>
          </a:prstGeom>
          <a:noFill/>
          <a:ln>
            <a:noFill/>
          </a:ln>
        </p:spPr>
      </p:pic>
      <p:pic>
        <p:nvPicPr>
          <p:cNvPr id="207" name="Google Shape;207;p19"/>
          <p:cNvPicPr preferRelativeResize="0"/>
          <p:nvPr/>
        </p:nvPicPr>
        <p:blipFill>
          <a:blip r:embed="rId3">
            <a:alphaModFix/>
          </a:blip>
          <a:stretch>
            <a:fillRect/>
          </a:stretch>
        </p:blipFill>
        <p:spPr>
          <a:xfrm>
            <a:off x="1184950" y="5633576"/>
            <a:ext cx="1367124" cy="1630560"/>
          </a:xfrm>
          <a:prstGeom prst="rect">
            <a:avLst/>
          </a:prstGeom>
          <a:noFill/>
          <a:ln>
            <a:noFill/>
          </a:ln>
        </p:spPr>
      </p:pic>
      <p:pic>
        <p:nvPicPr>
          <p:cNvPr id="208" name="Google Shape;208;p19"/>
          <p:cNvPicPr preferRelativeResize="0"/>
          <p:nvPr/>
        </p:nvPicPr>
        <p:blipFill>
          <a:blip r:embed="rId3">
            <a:alphaModFix/>
          </a:blip>
          <a:stretch>
            <a:fillRect/>
          </a:stretch>
        </p:blipFill>
        <p:spPr>
          <a:xfrm>
            <a:off x="1184950" y="7800704"/>
            <a:ext cx="1367124" cy="1630560"/>
          </a:xfrm>
          <a:prstGeom prst="rect">
            <a:avLst/>
          </a:prstGeom>
          <a:noFill/>
          <a:ln>
            <a:noFill/>
          </a:ln>
        </p:spPr>
      </p:pic>
      <p:sp>
        <p:nvSpPr>
          <p:cNvPr id="2" name="TextBox 1">
            <a:extLst>
              <a:ext uri="{FF2B5EF4-FFF2-40B4-BE49-F238E27FC236}">
                <a16:creationId xmlns:a16="http://schemas.microsoft.com/office/drawing/2014/main" id="{375C95F8-0F32-40A3-8F24-8DFD4674DDEF}"/>
              </a:ext>
            </a:extLst>
          </p:cNvPr>
          <p:cNvSpPr txBox="1"/>
          <p:nvPr/>
        </p:nvSpPr>
        <p:spPr>
          <a:xfrm>
            <a:off x="3135692" y="8427720"/>
            <a:ext cx="13704508" cy="2015936"/>
          </a:xfrm>
          <a:prstGeom prst="rect">
            <a:avLst/>
          </a:prstGeom>
          <a:noFill/>
        </p:spPr>
        <p:txBody>
          <a:bodyPr wrap="square" rtlCol="0">
            <a:spAutoFit/>
          </a:bodyPr>
          <a:lstStyle/>
          <a:p>
            <a:pPr marL="342900" indent="-342900">
              <a:buFont typeface="Arial" panose="020B0604020202020204" pitchFamily="34" charset="0"/>
              <a:buChar char="•"/>
            </a:pPr>
            <a:r>
              <a:rPr lang="en-US" sz="2100" dirty="0">
                <a:latin typeface="KoHo" panose="020B0604020202020204" charset="-34"/>
                <a:cs typeface="KoHo" panose="020B0604020202020204" charset="-34"/>
              </a:rPr>
              <a:t>Develop dashboards to track sentiment trends over time, segmented by categories (e.g., genres, regions, or demographics), enabling data-driven decision-making.</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100" b="0"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rPr>
              <a:t>Incorporate sentiment insights into recommendation models to suggest content based on user sentiment patterns.</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100" b="0" i="0" u="none" strike="noStrike" kern="0" cap="none" spc="0" normalizeH="0" baseline="0" noProof="0" dirty="0">
                <a:ln>
                  <a:noFill/>
                </a:ln>
                <a:solidFill>
                  <a:srgbClr val="000000"/>
                </a:solidFill>
                <a:effectLst/>
                <a:uLnTx/>
                <a:uFillTx/>
                <a:latin typeface="KoHo" panose="020B0604020202020204" charset="-34"/>
                <a:cs typeface="KoHo" panose="020B0604020202020204" charset="-34"/>
                <a:sym typeface="Arial"/>
              </a:rPr>
              <a:t>Optimize for scenarios where users with negative feedback can receive tailored suggestions to re-engage them with the platform.</a:t>
            </a:r>
          </a:p>
          <a:p>
            <a:pPr marL="342900" indent="-342900">
              <a:buFontTx/>
              <a:buChar char="-"/>
            </a:pPr>
            <a:endParaRPr lang="en-US" sz="2000" dirty="0">
              <a:latin typeface="KoHo" panose="020B0604020202020204" charset="-34"/>
              <a:cs typeface="KoHo" panose="020B0604020202020204" charset="-34"/>
            </a:endParaRPr>
          </a:p>
        </p:txBody>
      </p:sp>
    </p:spTree>
    <p:extLst>
      <p:ext uri="{BB962C8B-B14F-4D97-AF65-F5344CB8AC3E}">
        <p14:creationId xmlns:p14="http://schemas.microsoft.com/office/powerpoint/2010/main" val="203158686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3000"/>
          </a:schemeClr>
        </a:solidFill>
        <a:effectLst/>
      </p:bgPr>
    </p:bg>
    <p:spTree>
      <p:nvGrpSpPr>
        <p:cNvPr id="1" name="Shape 157"/>
        <p:cNvGrpSpPr/>
        <p:nvPr/>
      </p:nvGrpSpPr>
      <p:grpSpPr>
        <a:xfrm>
          <a:off x="0" y="0"/>
          <a:ext cx="0" cy="0"/>
          <a:chOff x="0" y="0"/>
          <a:chExt cx="0" cy="0"/>
        </a:xfrm>
      </p:grpSpPr>
      <p:pic>
        <p:nvPicPr>
          <p:cNvPr id="158" name="Google Shape;158;p17"/>
          <p:cNvPicPr preferRelativeResize="0"/>
          <p:nvPr/>
        </p:nvPicPr>
        <p:blipFill>
          <a:blip r:embed="rId3">
            <a:alphaModFix/>
          </a:blip>
          <a:stretch>
            <a:fillRect/>
          </a:stretch>
        </p:blipFill>
        <p:spPr>
          <a:xfrm>
            <a:off x="11907950" y="774700"/>
            <a:ext cx="5668850" cy="4152900"/>
          </a:xfrm>
          <a:prstGeom prst="rect">
            <a:avLst/>
          </a:prstGeom>
          <a:noFill/>
          <a:ln>
            <a:noFill/>
          </a:ln>
        </p:spPr>
      </p:pic>
      <p:sp>
        <p:nvSpPr>
          <p:cNvPr id="159" name="Google Shape;159;p17"/>
          <p:cNvSpPr txBox="1"/>
          <p:nvPr/>
        </p:nvSpPr>
        <p:spPr>
          <a:xfrm>
            <a:off x="1028700" y="5880101"/>
            <a:ext cx="15338700" cy="160031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2999" dirty="0">
                <a:solidFill>
                  <a:srgbClr val="1C1C1C"/>
                </a:solidFill>
                <a:latin typeface="KoHo" panose="020B0604020202020204" charset="-34"/>
                <a:cs typeface="KoHo" panose="020B0604020202020204" charset="-34"/>
                <a:sym typeface="Paytone One"/>
              </a:rPr>
              <a:t>Next Steps</a:t>
            </a:r>
            <a:endParaRPr dirty="0">
              <a:latin typeface="KoHo" panose="020B0604020202020204" charset="-34"/>
              <a:cs typeface="KoHo" panose="020B0604020202020204" charset="-34"/>
            </a:endParaRPr>
          </a:p>
        </p:txBody>
      </p:sp>
      <p:pic>
        <p:nvPicPr>
          <p:cNvPr id="161" name="Google Shape;161;p17"/>
          <p:cNvPicPr preferRelativeResize="0"/>
          <p:nvPr/>
        </p:nvPicPr>
        <p:blipFill>
          <a:blip r:embed="rId4">
            <a:alphaModFix/>
          </a:blip>
          <a:stretch>
            <a:fillRect/>
          </a:stretch>
        </p:blipFill>
        <p:spPr>
          <a:xfrm>
            <a:off x="0" y="1056350"/>
            <a:ext cx="11907952" cy="3364187"/>
          </a:xfrm>
          <a:prstGeom prst="rect">
            <a:avLst/>
          </a:prstGeom>
          <a:noFill/>
          <a:ln>
            <a:noFill/>
          </a:ln>
        </p:spPr>
      </p:pic>
      <p:pic>
        <p:nvPicPr>
          <p:cNvPr id="2" name="Picture 1">
            <a:extLst>
              <a:ext uri="{FF2B5EF4-FFF2-40B4-BE49-F238E27FC236}">
                <a16:creationId xmlns:a16="http://schemas.microsoft.com/office/drawing/2014/main" id="{1E223253-C39C-4740-8DB7-04598E5E014A}"/>
              </a:ext>
            </a:extLst>
          </p:cNvPr>
          <p:cNvPicPr>
            <a:picLocks noChangeAspect="1"/>
          </p:cNvPicPr>
          <p:nvPr/>
        </p:nvPicPr>
        <p:blipFill>
          <a:blip r:embed="rId5"/>
          <a:stretch>
            <a:fillRect/>
          </a:stretch>
        </p:blipFill>
        <p:spPr>
          <a:xfrm>
            <a:off x="11907950" y="1368425"/>
            <a:ext cx="5668850" cy="2976146"/>
          </a:xfrm>
          <a:prstGeom prst="rect">
            <a:avLst/>
          </a:prstGeom>
        </p:spPr>
      </p:pic>
    </p:spTree>
    <p:extLst>
      <p:ext uri="{BB962C8B-B14F-4D97-AF65-F5344CB8AC3E}">
        <p14:creationId xmlns:p14="http://schemas.microsoft.com/office/powerpoint/2010/main" val="240572428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1000"/>
          </a:schemeClr>
        </a:solidFill>
        <a:effectLst/>
      </p:bgPr>
    </p:bg>
    <p:spTree>
      <p:nvGrpSpPr>
        <p:cNvPr id="1" name="Shape 193">
          <a:extLst>
            <a:ext uri="{FF2B5EF4-FFF2-40B4-BE49-F238E27FC236}">
              <a16:creationId xmlns:a16="http://schemas.microsoft.com/office/drawing/2014/main" id="{6B9DE36E-A8B1-D423-8C5A-A9105EA88FFD}"/>
            </a:ext>
          </a:extLst>
        </p:cNvPr>
        <p:cNvGrpSpPr/>
        <p:nvPr/>
      </p:nvGrpSpPr>
      <p:grpSpPr>
        <a:xfrm>
          <a:off x="0" y="0"/>
          <a:ext cx="0" cy="0"/>
          <a:chOff x="0" y="0"/>
          <a:chExt cx="0" cy="0"/>
        </a:xfrm>
      </p:grpSpPr>
      <p:sp>
        <p:nvSpPr>
          <p:cNvPr id="194" name="Google Shape;194;p19">
            <a:extLst>
              <a:ext uri="{FF2B5EF4-FFF2-40B4-BE49-F238E27FC236}">
                <a16:creationId xmlns:a16="http://schemas.microsoft.com/office/drawing/2014/main" id="{A159D9FC-A30F-4A91-227B-FE0B8E62C053}"/>
              </a:ext>
            </a:extLst>
          </p:cNvPr>
          <p:cNvSpPr txBox="1"/>
          <p:nvPr/>
        </p:nvSpPr>
        <p:spPr>
          <a:xfrm>
            <a:off x="3150271" y="1591790"/>
            <a:ext cx="14033022" cy="2575064"/>
          </a:xfrm>
          <a:prstGeom prst="rect">
            <a:avLst/>
          </a:prstGeom>
          <a:noFill/>
          <a:ln>
            <a:noFill/>
          </a:ln>
        </p:spPr>
        <p:txBody>
          <a:bodyPr spcFirstLastPara="1" wrap="square" lIns="0" tIns="0" rIns="0" bIns="0" anchor="t" anchorCtr="0">
            <a:spAutoFit/>
          </a:bodyPr>
          <a:lstStyle/>
          <a:p>
            <a:pPr marL="342900" indent="-342900" algn="l">
              <a:spcAft>
                <a:spcPts val="675"/>
              </a:spcAft>
              <a:buFont typeface="Arial" panose="020B0604020202020204" pitchFamily="34" charset="0"/>
              <a:buChar char="•"/>
            </a:pPr>
            <a:r>
              <a:rPr lang="en-US" sz="2400" b="0" i="0" dirty="0">
                <a:solidFill>
                  <a:srgbClr val="000000"/>
                </a:solidFill>
                <a:effectLst/>
                <a:latin typeface="KoHo "/>
              </a:rPr>
              <a:t>Explore advanced NLP models like LSTMs, BERT or GPT for real-time sentiment updates and granular analysis.</a:t>
            </a:r>
          </a:p>
          <a:p>
            <a:pPr marL="342900" indent="-342900" algn="l">
              <a:spcAft>
                <a:spcPts val="675"/>
              </a:spcAft>
              <a:buFont typeface="Arial" panose="020B0604020202020204" pitchFamily="34" charset="0"/>
              <a:buChar char="•"/>
            </a:pPr>
            <a:r>
              <a:rPr lang="en-US" sz="2400" b="0" i="0" dirty="0">
                <a:solidFill>
                  <a:srgbClr val="000000"/>
                </a:solidFill>
                <a:effectLst/>
                <a:latin typeface="KoHo "/>
              </a:rPr>
              <a:t>Aspect-Based Sentiment Analysis – Identify sentiment for specific aspects (e.g., content quality, streaming experience).</a:t>
            </a:r>
          </a:p>
          <a:p>
            <a:pPr marL="342900" indent="-342900" algn="l">
              <a:spcAft>
                <a:spcPts val="675"/>
              </a:spcAft>
              <a:buFont typeface="Arial" panose="020B0604020202020204" pitchFamily="34" charset="0"/>
              <a:buChar char="•"/>
            </a:pPr>
            <a:r>
              <a:rPr lang="en-US" sz="2400" b="0" i="0" dirty="0">
                <a:solidFill>
                  <a:srgbClr val="000000"/>
                </a:solidFill>
                <a:effectLst/>
                <a:latin typeface="KoHo "/>
              </a:rPr>
              <a:t>Emotion Detection – Extend sentiment analysis to classify emotions like joy, anger, and frustration.</a:t>
            </a:r>
          </a:p>
          <a:p>
            <a:pPr marL="342900" indent="-342900" algn="l">
              <a:spcAft>
                <a:spcPts val="675"/>
              </a:spcAft>
              <a:buFont typeface="Arial" panose="020B0604020202020204" pitchFamily="34" charset="0"/>
              <a:buChar char="•"/>
            </a:pPr>
            <a:r>
              <a:rPr lang="en-US" sz="2400" b="0" i="0" dirty="0">
                <a:solidFill>
                  <a:srgbClr val="000000"/>
                </a:solidFill>
                <a:effectLst/>
                <a:latin typeface="KoHo "/>
              </a:rPr>
              <a:t>Personalized Recommendations – Suggest movies/shows based on sentiment and user preferences.</a:t>
            </a:r>
          </a:p>
        </p:txBody>
      </p:sp>
      <p:sp>
        <p:nvSpPr>
          <p:cNvPr id="195" name="Google Shape;195;p19">
            <a:extLst>
              <a:ext uri="{FF2B5EF4-FFF2-40B4-BE49-F238E27FC236}">
                <a16:creationId xmlns:a16="http://schemas.microsoft.com/office/drawing/2014/main" id="{E04C271E-ABF0-196D-C6E4-0B2CE9DF4E2E}"/>
              </a:ext>
            </a:extLst>
          </p:cNvPr>
          <p:cNvSpPr txBox="1"/>
          <p:nvPr/>
        </p:nvSpPr>
        <p:spPr>
          <a:xfrm>
            <a:off x="3241518" y="906924"/>
            <a:ext cx="12257562" cy="707886"/>
          </a:xfrm>
          <a:prstGeom prst="rect">
            <a:avLst/>
          </a:prstGeom>
          <a:noFill/>
          <a:ln>
            <a:noFill/>
          </a:ln>
        </p:spPr>
        <p:txBody>
          <a:bodyPr spcFirstLastPara="1" wrap="square" lIns="0" tIns="0" rIns="0" bIns="0" anchor="t" anchorCtr="0">
            <a:spAutoFit/>
          </a:bodyPr>
          <a:lstStyle/>
          <a:p>
            <a:r>
              <a:rPr lang="en-US" sz="3200" b="1" dirty="0">
                <a:solidFill>
                  <a:schemeClr val="tx1"/>
                </a:solidFill>
                <a:effectLst/>
                <a:latin typeface="KoHo" panose="020B0604020202020204" charset="-34"/>
                <a:cs typeface="KoHo" panose="020B0604020202020204" charset="-34"/>
              </a:rPr>
              <a:t>Advanced Modeling Techniques</a:t>
            </a:r>
            <a:endParaRPr lang="en-US" sz="3200" b="0" dirty="0">
              <a:solidFill>
                <a:schemeClr val="tx1"/>
              </a:solidFill>
              <a:effectLst/>
              <a:latin typeface="KoHo" panose="020B0604020202020204" charset="-34"/>
              <a:cs typeface="KoHo" panose="020B0604020202020204" charset="-34"/>
            </a:endParaRPr>
          </a:p>
          <a:p>
            <a:pPr marL="0" marR="0" lvl="0" indent="0" algn="l" rtl="0">
              <a:lnSpc>
                <a:spcPct val="100000"/>
              </a:lnSpc>
              <a:spcBef>
                <a:spcPts val="0"/>
              </a:spcBef>
              <a:spcAft>
                <a:spcPts val="0"/>
              </a:spcAft>
              <a:buNone/>
            </a:pPr>
            <a:endParaRPr dirty="0"/>
          </a:p>
        </p:txBody>
      </p:sp>
      <p:sp>
        <p:nvSpPr>
          <p:cNvPr id="196" name="Google Shape;196;p19">
            <a:extLst>
              <a:ext uri="{FF2B5EF4-FFF2-40B4-BE49-F238E27FC236}">
                <a16:creationId xmlns:a16="http://schemas.microsoft.com/office/drawing/2014/main" id="{01B5F7ED-9639-625E-B779-0FB5D4F0A7D9}"/>
              </a:ext>
            </a:extLst>
          </p:cNvPr>
          <p:cNvSpPr txBox="1"/>
          <p:nvPr/>
        </p:nvSpPr>
        <p:spPr>
          <a:xfrm>
            <a:off x="3251064" y="5031848"/>
            <a:ext cx="14033022" cy="2523768"/>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0"/>
              </a:spcBef>
              <a:spcAft>
                <a:spcPts val="0"/>
              </a:spcAft>
              <a:buFont typeface="Arial" panose="020B0604020202020204" pitchFamily="34" charset="0"/>
              <a:buChar char="•"/>
            </a:pPr>
            <a:r>
              <a:rPr lang="en-GB" sz="2400" b="0" i="0" dirty="0">
                <a:solidFill>
                  <a:srgbClr val="000000"/>
                </a:solidFill>
                <a:effectLst/>
                <a:latin typeface="KoHo "/>
              </a:rPr>
              <a:t>For real-time sentiment analysis, use an API like a Flask-based API to support smooth integration of the trained sentiment analysis model, enabling it to handle incoming data efficiently. </a:t>
            </a:r>
          </a:p>
          <a:p>
            <a:pPr marL="342900" marR="0" lvl="0" indent="-342900" algn="l" rtl="0">
              <a:lnSpc>
                <a:spcPct val="100000"/>
              </a:lnSpc>
              <a:spcBef>
                <a:spcPts val="0"/>
              </a:spcBef>
              <a:spcAft>
                <a:spcPts val="0"/>
              </a:spcAft>
              <a:buFont typeface="Arial" panose="020B0604020202020204" pitchFamily="34" charset="0"/>
              <a:buChar char="•"/>
            </a:pPr>
            <a:r>
              <a:rPr lang="en-GB" sz="2400" dirty="0">
                <a:latin typeface="KoHo "/>
              </a:rPr>
              <a:t>To ensure scalability, deploy the API on the Amazon Cloud</a:t>
            </a:r>
          </a:p>
          <a:p>
            <a:pPr marL="342900" indent="-342900">
              <a:buFont typeface="Arial" panose="020B0604020202020204" pitchFamily="34" charset="0"/>
              <a:buChar char="•"/>
            </a:pPr>
            <a:r>
              <a:rPr lang="en-GB" sz="2400" b="0" i="0" dirty="0">
                <a:solidFill>
                  <a:srgbClr val="000000"/>
                </a:solidFill>
                <a:effectLst/>
                <a:latin typeface="KoHo "/>
              </a:rPr>
              <a:t>Secure the API by incorporating authentication and data encryption measures.</a:t>
            </a:r>
          </a:p>
          <a:p>
            <a:pPr marL="342900" indent="-342900">
              <a:buFont typeface="Arial" panose="020B0604020202020204" pitchFamily="34" charset="0"/>
              <a:buChar char="•"/>
            </a:pPr>
            <a:r>
              <a:rPr lang="en-GB" sz="2400" dirty="0">
                <a:latin typeface="KoHo "/>
              </a:rPr>
              <a:t>Develop a user-friendly interface that can interact with the model and optimize it across devices, </a:t>
            </a:r>
            <a:r>
              <a:rPr lang="en-GB" sz="2400" b="0" i="0" dirty="0">
                <a:solidFill>
                  <a:srgbClr val="000000"/>
                </a:solidFill>
                <a:effectLst/>
                <a:latin typeface="KoHo "/>
              </a:rPr>
              <a:t>desktops, tablets, and mobile phones, ensuring it caters to diverse user needs.</a:t>
            </a:r>
          </a:p>
          <a:p>
            <a:pPr marL="0" marR="0" lvl="0" indent="0" algn="l" rtl="0">
              <a:lnSpc>
                <a:spcPct val="100000"/>
              </a:lnSpc>
              <a:spcBef>
                <a:spcPts val="0"/>
              </a:spcBef>
              <a:spcAft>
                <a:spcPts val="0"/>
              </a:spcAft>
              <a:buNone/>
            </a:pPr>
            <a:endParaRPr lang="en-US" sz="2000" dirty="0"/>
          </a:p>
        </p:txBody>
      </p:sp>
      <p:sp>
        <p:nvSpPr>
          <p:cNvPr id="197" name="Google Shape;197;p19">
            <a:extLst>
              <a:ext uri="{FF2B5EF4-FFF2-40B4-BE49-F238E27FC236}">
                <a16:creationId xmlns:a16="http://schemas.microsoft.com/office/drawing/2014/main" id="{8B3395D5-5E28-CB3A-8017-F5511FC0E911}"/>
              </a:ext>
            </a:extLst>
          </p:cNvPr>
          <p:cNvSpPr txBox="1"/>
          <p:nvPr/>
        </p:nvSpPr>
        <p:spPr>
          <a:xfrm>
            <a:off x="3241518" y="4371100"/>
            <a:ext cx="12257562"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dirty="0">
                <a:solidFill>
                  <a:srgbClr val="1C1C1C"/>
                </a:solidFill>
                <a:latin typeface="KoHo"/>
                <a:cs typeface="KoHo"/>
                <a:sym typeface="KoHo"/>
              </a:rPr>
              <a:t>Model Deployment and User Interface</a:t>
            </a:r>
            <a:endParaRPr sz="3200" dirty="0"/>
          </a:p>
        </p:txBody>
      </p:sp>
      <p:sp>
        <p:nvSpPr>
          <p:cNvPr id="200" name="Google Shape;200;p19">
            <a:extLst>
              <a:ext uri="{FF2B5EF4-FFF2-40B4-BE49-F238E27FC236}">
                <a16:creationId xmlns:a16="http://schemas.microsoft.com/office/drawing/2014/main" id="{36E0B311-0D90-E847-2460-6E806134E1D1}"/>
              </a:ext>
            </a:extLst>
          </p:cNvPr>
          <p:cNvSpPr txBox="1"/>
          <p:nvPr/>
        </p:nvSpPr>
        <p:spPr>
          <a:xfrm>
            <a:off x="3150271" y="7800704"/>
            <a:ext cx="14033022"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1C1C1C"/>
                </a:solidFill>
                <a:latin typeface="KoHo"/>
                <a:ea typeface="KoHo"/>
                <a:cs typeface="KoHo"/>
                <a:sym typeface="KoHo"/>
              </a:rPr>
              <a:t>Visualize Sentiment Trends</a:t>
            </a:r>
            <a:endParaRPr sz="3200" b="1" dirty="0"/>
          </a:p>
        </p:txBody>
      </p:sp>
      <p:cxnSp>
        <p:nvCxnSpPr>
          <p:cNvPr id="202" name="Google Shape;202;p19">
            <a:extLst>
              <a:ext uri="{FF2B5EF4-FFF2-40B4-BE49-F238E27FC236}">
                <a16:creationId xmlns:a16="http://schemas.microsoft.com/office/drawing/2014/main" id="{99336116-6020-7809-47F6-A551E5A54365}"/>
              </a:ext>
            </a:extLst>
          </p:cNvPr>
          <p:cNvCxnSpPr/>
          <p:nvPr/>
        </p:nvCxnSpPr>
        <p:spPr>
          <a:xfrm>
            <a:off x="3316864" y="4226653"/>
            <a:ext cx="13851850" cy="0"/>
          </a:xfrm>
          <a:prstGeom prst="straightConnector1">
            <a:avLst/>
          </a:prstGeom>
          <a:noFill/>
          <a:ln w="19050" cap="flat" cmpd="sng">
            <a:solidFill>
              <a:srgbClr val="000000"/>
            </a:solidFill>
            <a:prstDash val="solid"/>
            <a:round/>
            <a:headEnd type="none" w="sm" len="sm"/>
            <a:tailEnd type="none" w="sm" len="sm"/>
          </a:ln>
        </p:spPr>
      </p:cxnSp>
      <p:cxnSp>
        <p:nvCxnSpPr>
          <p:cNvPr id="204" name="Google Shape;204;p19">
            <a:extLst>
              <a:ext uri="{FF2B5EF4-FFF2-40B4-BE49-F238E27FC236}">
                <a16:creationId xmlns:a16="http://schemas.microsoft.com/office/drawing/2014/main" id="{B44878C2-7F27-94D9-7280-0C75DE49A588}"/>
              </a:ext>
            </a:extLst>
          </p:cNvPr>
          <p:cNvCxnSpPr/>
          <p:nvPr/>
        </p:nvCxnSpPr>
        <p:spPr>
          <a:xfrm>
            <a:off x="3150271" y="7489778"/>
            <a:ext cx="13851850" cy="0"/>
          </a:xfrm>
          <a:prstGeom prst="straightConnector1">
            <a:avLst/>
          </a:prstGeom>
          <a:noFill/>
          <a:ln w="19050" cap="flat" cmpd="sng">
            <a:solidFill>
              <a:srgbClr val="000000"/>
            </a:solidFill>
            <a:prstDash val="solid"/>
            <a:round/>
            <a:headEnd type="none" w="sm" len="sm"/>
            <a:tailEnd type="none" w="sm" len="sm"/>
          </a:ln>
        </p:spPr>
      </p:cxnSp>
      <p:pic>
        <p:nvPicPr>
          <p:cNvPr id="205" name="Google Shape;205;p19">
            <a:extLst>
              <a:ext uri="{FF2B5EF4-FFF2-40B4-BE49-F238E27FC236}">
                <a16:creationId xmlns:a16="http://schemas.microsoft.com/office/drawing/2014/main" id="{C5085502-DE8F-EB46-A848-896C49C74BEB}"/>
              </a:ext>
            </a:extLst>
          </p:cNvPr>
          <p:cNvPicPr preferRelativeResize="0"/>
          <p:nvPr/>
        </p:nvPicPr>
        <p:blipFill>
          <a:blip r:embed="rId3">
            <a:alphaModFix/>
          </a:blip>
          <a:stretch>
            <a:fillRect/>
          </a:stretch>
        </p:blipFill>
        <p:spPr>
          <a:xfrm>
            <a:off x="917173" y="1490088"/>
            <a:ext cx="1312172" cy="1334174"/>
          </a:xfrm>
          <a:prstGeom prst="rect">
            <a:avLst/>
          </a:prstGeom>
          <a:noFill/>
          <a:ln>
            <a:noFill/>
          </a:ln>
        </p:spPr>
      </p:pic>
      <p:pic>
        <p:nvPicPr>
          <p:cNvPr id="206" name="Google Shape;206;p19">
            <a:extLst>
              <a:ext uri="{FF2B5EF4-FFF2-40B4-BE49-F238E27FC236}">
                <a16:creationId xmlns:a16="http://schemas.microsoft.com/office/drawing/2014/main" id="{7F9571C8-1CFB-2305-57F3-32C5A5C3A657}"/>
              </a:ext>
            </a:extLst>
          </p:cNvPr>
          <p:cNvPicPr preferRelativeResize="0"/>
          <p:nvPr/>
        </p:nvPicPr>
        <p:blipFill>
          <a:blip r:embed="rId3">
            <a:alphaModFix/>
          </a:blip>
          <a:stretch>
            <a:fillRect/>
          </a:stretch>
        </p:blipFill>
        <p:spPr>
          <a:xfrm>
            <a:off x="869215" y="4597848"/>
            <a:ext cx="1360130" cy="1662674"/>
          </a:xfrm>
          <a:prstGeom prst="rect">
            <a:avLst/>
          </a:prstGeom>
          <a:noFill/>
          <a:ln>
            <a:noFill/>
          </a:ln>
        </p:spPr>
      </p:pic>
      <p:pic>
        <p:nvPicPr>
          <p:cNvPr id="208" name="Google Shape;208;p19">
            <a:extLst>
              <a:ext uri="{FF2B5EF4-FFF2-40B4-BE49-F238E27FC236}">
                <a16:creationId xmlns:a16="http://schemas.microsoft.com/office/drawing/2014/main" id="{1437A798-773E-E603-A96B-3A24741723D2}"/>
              </a:ext>
            </a:extLst>
          </p:cNvPr>
          <p:cNvPicPr preferRelativeResize="0"/>
          <p:nvPr/>
        </p:nvPicPr>
        <p:blipFill>
          <a:blip r:embed="rId3">
            <a:alphaModFix/>
          </a:blip>
          <a:stretch>
            <a:fillRect/>
          </a:stretch>
        </p:blipFill>
        <p:spPr>
          <a:xfrm>
            <a:off x="1184950" y="7800704"/>
            <a:ext cx="1367124" cy="1630560"/>
          </a:xfrm>
          <a:prstGeom prst="rect">
            <a:avLst/>
          </a:prstGeom>
          <a:noFill/>
          <a:ln>
            <a:noFill/>
          </a:ln>
        </p:spPr>
      </p:pic>
      <p:sp>
        <p:nvSpPr>
          <p:cNvPr id="2" name="TextBox 1">
            <a:extLst>
              <a:ext uri="{FF2B5EF4-FFF2-40B4-BE49-F238E27FC236}">
                <a16:creationId xmlns:a16="http://schemas.microsoft.com/office/drawing/2014/main" id="{E9DB8442-CA03-7608-5E55-DB471DA7F80C}"/>
              </a:ext>
            </a:extLst>
          </p:cNvPr>
          <p:cNvSpPr txBox="1"/>
          <p:nvPr/>
        </p:nvSpPr>
        <p:spPr>
          <a:xfrm>
            <a:off x="3135692" y="8427720"/>
            <a:ext cx="13704508" cy="830997"/>
          </a:xfrm>
          <a:prstGeom prst="rect">
            <a:avLst/>
          </a:prstGeom>
          <a:noFill/>
        </p:spPr>
        <p:txBody>
          <a:bodyPr wrap="square" rtlCol="0">
            <a:spAutoFit/>
          </a:bodyPr>
          <a:lstStyle/>
          <a:p>
            <a:pPr marL="285750" indent="-285750">
              <a:buFont typeface="Arial" panose="020B0604020202020204" pitchFamily="34" charset="0"/>
              <a:buChar char="•"/>
            </a:pPr>
            <a:r>
              <a:rPr lang="en-US" dirty="0"/>
              <a:t> </a:t>
            </a:r>
            <a:r>
              <a:rPr lang="en-US" sz="2400" dirty="0">
                <a:latin typeface="KoHo" panose="020B0604020202020204" charset="-34"/>
                <a:cs typeface="KoHo" panose="020B0604020202020204" charset="-34"/>
              </a:rPr>
              <a:t>Develop dashboards to track sentiment trends over time, segmented by categories (e.g., genres, regions, or demographics), enabling data-driven decision-making.</a:t>
            </a:r>
          </a:p>
        </p:txBody>
      </p:sp>
    </p:spTree>
    <p:extLst>
      <p:ext uri="{BB962C8B-B14F-4D97-AF65-F5344CB8AC3E}">
        <p14:creationId xmlns:p14="http://schemas.microsoft.com/office/powerpoint/2010/main" val="66260403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5">
            <a:lumMod val="75000"/>
            <a:alpha val="81000"/>
          </a:schemeClr>
        </a:solidFill>
        <a:effectLst/>
      </p:bgPr>
    </p:bg>
    <p:spTree>
      <p:nvGrpSpPr>
        <p:cNvPr id="1" name="Shape 463"/>
        <p:cNvGrpSpPr/>
        <p:nvPr/>
      </p:nvGrpSpPr>
      <p:grpSpPr>
        <a:xfrm>
          <a:off x="0" y="0"/>
          <a:ext cx="0" cy="0"/>
          <a:chOff x="0" y="0"/>
          <a:chExt cx="0" cy="0"/>
        </a:xfrm>
      </p:grpSpPr>
      <p:sp>
        <p:nvSpPr>
          <p:cNvPr id="464" name="Google Shape;464;p29"/>
          <p:cNvSpPr txBox="1"/>
          <p:nvPr/>
        </p:nvSpPr>
        <p:spPr>
          <a:xfrm>
            <a:off x="8563559" y="3098800"/>
            <a:ext cx="8695741" cy="60324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200" b="0" i="0" u="none" strike="noStrike" cap="none" dirty="0">
                <a:solidFill>
                  <a:srgbClr val="1C1C1C"/>
                </a:solidFill>
                <a:latin typeface="+mj-lt"/>
                <a:ea typeface="Paytone One"/>
                <a:cs typeface="Paytone One"/>
                <a:sym typeface="Paytone One"/>
              </a:rPr>
              <a:t>THANK</a:t>
            </a:r>
            <a:r>
              <a:rPr lang="en-US" sz="7200" dirty="0">
                <a:latin typeface="+mj-lt"/>
                <a:ea typeface="Paytone One"/>
              </a:rPr>
              <a:t> </a:t>
            </a:r>
            <a:r>
              <a:rPr lang="en-US" sz="7200" b="0" i="0" u="none" strike="noStrike" cap="none" dirty="0">
                <a:solidFill>
                  <a:srgbClr val="1C1C1C"/>
                </a:solidFill>
                <a:latin typeface="+mj-lt"/>
                <a:ea typeface="Paytone One"/>
                <a:cs typeface="Paytone One"/>
                <a:sym typeface="Paytone One"/>
              </a:rPr>
              <a:t>YOU!</a:t>
            </a:r>
          </a:p>
          <a:p>
            <a:pPr marL="742950" marR="0" lvl="0" indent="-742950" algn="l" rtl="0">
              <a:lnSpc>
                <a:spcPct val="100000"/>
              </a:lnSpc>
              <a:spcBef>
                <a:spcPts val="0"/>
              </a:spcBef>
              <a:spcAft>
                <a:spcPts val="0"/>
              </a:spcAft>
              <a:buAutoNum type="arabicPeriod"/>
            </a:pPr>
            <a:r>
              <a:rPr lang="en-US" sz="4000" dirty="0">
                <a:solidFill>
                  <a:srgbClr val="1C1C1C"/>
                </a:solidFill>
                <a:latin typeface="+mj-lt"/>
                <a:sym typeface="Paytone One"/>
              </a:rPr>
              <a:t>Edwin George</a:t>
            </a:r>
          </a:p>
          <a:p>
            <a:pPr marL="742950" indent="-742950">
              <a:buFont typeface="Arial"/>
              <a:buAutoNum type="arabicPeriod"/>
            </a:pPr>
            <a:r>
              <a:rPr lang="en-US" sz="4000" dirty="0">
                <a:solidFill>
                  <a:srgbClr val="1C1C1C"/>
                </a:solidFill>
                <a:latin typeface="+mj-lt"/>
                <a:sym typeface="Paytone One"/>
              </a:rPr>
              <a:t>Nelima Wanyama</a:t>
            </a:r>
          </a:p>
          <a:p>
            <a:pPr marL="742950" indent="-742950">
              <a:buFont typeface="Arial"/>
              <a:buAutoNum type="arabicPeriod"/>
            </a:pPr>
            <a:r>
              <a:rPr lang="en-US" sz="4000" dirty="0">
                <a:solidFill>
                  <a:srgbClr val="1C1C1C"/>
                </a:solidFill>
                <a:latin typeface="+mj-lt"/>
                <a:sym typeface="Paytone One"/>
              </a:rPr>
              <a:t>Moses Musyoki</a:t>
            </a:r>
          </a:p>
          <a:p>
            <a:pPr marL="742950" indent="-742950">
              <a:buFont typeface="Arial"/>
              <a:buAutoNum type="arabicPeriod"/>
            </a:pPr>
            <a:r>
              <a:rPr lang="en-US" sz="4000" dirty="0">
                <a:solidFill>
                  <a:srgbClr val="1C1C1C"/>
                </a:solidFill>
                <a:latin typeface="+mj-lt"/>
                <a:sym typeface="Paytone One"/>
              </a:rPr>
              <a:t>Spencer </a:t>
            </a:r>
            <a:r>
              <a:rPr lang="en-US" sz="4000" dirty="0" err="1">
                <a:solidFill>
                  <a:srgbClr val="1C1C1C"/>
                </a:solidFill>
                <a:latin typeface="+mj-lt"/>
                <a:sym typeface="Paytone One"/>
              </a:rPr>
              <a:t>Lugalia</a:t>
            </a:r>
            <a:endParaRPr lang="en-US" sz="4000" dirty="0">
              <a:solidFill>
                <a:srgbClr val="1C1C1C"/>
              </a:solidFill>
              <a:latin typeface="+mj-lt"/>
              <a:sym typeface="Paytone One"/>
            </a:endParaRPr>
          </a:p>
          <a:p>
            <a:pPr marL="742950" indent="-742950">
              <a:buFont typeface="Arial"/>
              <a:buAutoNum type="arabicPeriod"/>
            </a:pPr>
            <a:r>
              <a:rPr lang="en-US" sz="4000" dirty="0">
                <a:solidFill>
                  <a:srgbClr val="1C1C1C"/>
                </a:solidFill>
                <a:latin typeface="+mj-lt"/>
                <a:sym typeface="Paytone One"/>
              </a:rPr>
              <a:t>Wambui Munene</a:t>
            </a:r>
          </a:p>
          <a:p>
            <a:pPr marL="742950" indent="-742950">
              <a:buFont typeface="Arial"/>
              <a:buAutoNum type="arabicPeriod"/>
            </a:pPr>
            <a:endParaRPr lang="en-US" sz="4000" dirty="0">
              <a:solidFill>
                <a:srgbClr val="1C1C1C"/>
              </a:solidFill>
              <a:latin typeface="+mj-lt"/>
              <a:sym typeface="Paytone One"/>
            </a:endParaRPr>
          </a:p>
          <a:p>
            <a:pPr marL="742950" indent="-742950">
              <a:buFont typeface="Arial"/>
              <a:buAutoNum type="arabicPeriod"/>
            </a:pPr>
            <a:endParaRPr lang="en-US" sz="4000" dirty="0">
              <a:solidFill>
                <a:srgbClr val="1C1C1C"/>
              </a:solidFill>
              <a:latin typeface="+mj-lt"/>
              <a:sym typeface="Paytone One"/>
            </a:endParaRPr>
          </a:p>
          <a:p>
            <a:pPr marL="742950" marR="0" lvl="0" indent="-742950" algn="l" rtl="0">
              <a:lnSpc>
                <a:spcPct val="100000"/>
              </a:lnSpc>
              <a:spcBef>
                <a:spcPts val="0"/>
              </a:spcBef>
              <a:spcAft>
                <a:spcPts val="0"/>
              </a:spcAft>
              <a:buAutoNum type="arabicPeriod"/>
            </a:pPr>
            <a:endParaRPr lang="en-US" sz="4000" dirty="0">
              <a:solidFill>
                <a:srgbClr val="1C1C1C"/>
              </a:solidFill>
              <a:latin typeface="+mj-lt"/>
              <a:sym typeface="Paytone One"/>
            </a:endParaRPr>
          </a:p>
        </p:txBody>
      </p:sp>
      <p:pic>
        <p:nvPicPr>
          <p:cNvPr id="465" name="Google Shape;465;p29"/>
          <p:cNvPicPr preferRelativeResize="0"/>
          <p:nvPr/>
        </p:nvPicPr>
        <p:blipFill>
          <a:blip r:embed="rId3">
            <a:alphaModFix/>
          </a:blip>
          <a:stretch>
            <a:fillRect/>
          </a:stretch>
        </p:blipFill>
        <p:spPr>
          <a:xfrm>
            <a:off x="1623975" y="1389287"/>
            <a:ext cx="5948425" cy="75084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KoHo"/>
        <a:ea typeface=""/>
        <a:cs typeface=""/>
      </a:majorFont>
      <a:minorFont>
        <a:latin typeface="KoH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1376</TotalTime>
  <Words>1428</Words>
  <Application>Microsoft Office PowerPoint</Application>
  <PresentationFormat>Custom</PresentationFormat>
  <Paragraphs>84</Paragraphs>
  <Slides>15</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vt:lpstr>
      <vt:lpstr>Paytone One</vt:lpstr>
      <vt:lpstr>KoHo </vt:lpstr>
      <vt:lpstr>-apple-system</vt:lpstr>
      <vt:lpstr>Consolas</vt:lpstr>
      <vt:lpstr>Arial</vt:lpstr>
      <vt:lpstr>KoHo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Spencer Lugalia</dc:creator>
  <cp:lastModifiedBy>SPENCER LUGALIA</cp:lastModifiedBy>
  <cp:revision>44</cp:revision>
  <dcterms:modified xsi:type="dcterms:W3CDTF">2025-03-26T16:31:34Z</dcterms:modified>
</cp:coreProperties>
</file>