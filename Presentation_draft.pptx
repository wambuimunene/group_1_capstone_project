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75" r:id="rId2"/>
    <p:sldId id="257" r:id="rId3"/>
    <p:sldId id="259" r:id="rId4"/>
    <p:sldId id="263" r:id="rId5"/>
    <p:sldId id="277" r:id="rId6"/>
    <p:sldId id="278" r:id="rId7"/>
    <p:sldId id="279" r:id="rId8"/>
    <p:sldId id="260" r:id="rId9"/>
    <p:sldId id="280" r:id="rId10"/>
    <p:sldId id="262" r:id="rId11"/>
    <p:sldId id="281" r:id="rId12"/>
    <p:sldId id="272" r:id="rId13"/>
  </p:sldIdLst>
  <p:sldSz cx="18288000" cy="10287000"/>
  <p:notesSz cx="6858000" cy="9144000"/>
  <p:embeddedFontLst>
    <p:embeddedFont>
      <p:font typeface="Consolas" panose="020B0609020204030204" pitchFamily="49" charset="0"/>
      <p:regular r:id="rId15"/>
      <p:bold r:id="rId16"/>
      <p:italic r:id="rId17"/>
      <p:boldItalic r:id="rId18"/>
    </p:embeddedFont>
    <p:embeddedFont>
      <p:font typeface="KoHo" panose="020B0604020202020204" charset="-34"/>
      <p:regular r:id="rId19"/>
      <p:bold r:id="rId20"/>
      <p:italic r:id="rId21"/>
      <p:boldItalic r:id="rId22"/>
    </p:embeddedFont>
    <p:embeddedFont>
      <p:font typeface="Paytone One" panose="020B0604020202020204"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7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6837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5119F3-2769-456D-8D2A-CBEA7E5BA48D}"/>
              </a:ext>
            </a:extLst>
          </p:cNvPr>
          <p:cNvPicPr>
            <a:picLocks noChangeAspect="1"/>
          </p:cNvPicPr>
          <p:nvPr/>
        </p:nvPicPr>
        <p:blipFill>
          <a:blip r:embed="rId2"/>
          <a:stretch>
            <a:fillRect/>
          </a:stretch>
        </p:blipFill>
        <p:spPr>
          <a:xfrm>
            <a:off x="1396376" y="1628239"/>
            <a:ext cx="15281888" cy="8502369"/>
          </a:xfrm>
          <a:prstGeom prst="rect">
            <a:avLst/>
          </a:prstGeom>
        </p:spPr>
      </p:pic>
      <p:sp>
        <p:nvSpPr>
          <p:cNvPr id="5" name="TextBox 4">
            <a:extLst>
              <a:ext uri="{FF2B5EF4-FFF2-40B4-BE49-F238E27FC236}">
                <a16:creationId xmlns:a16="http://schemas.microsoft.com/office/drawing/2014/main" id="{D3B68D3D-214B-418C-A055-701BD409D5D1}"/>
              </a:ext>
            </a:extLst>
          </p:cNvPr>
          <p:cNvSpPr txBox="1"/>
          <p:nvPr/>
        </p:nvSpPr>
        <p:spPr>
          <a:xfrm>
            <a:off x="533400" y="304800"/>
            <a:ext cx="15910560" cy="1323439"/>
          </a:xfrm>
          <a:prstGeom prst="rect">
            <a:avLst/>
          </a:prstGeom>
          <a:noFill/>
        </p:spPr>
        <p:txBody>
          <a:bodyPr wrap="square" rtlCol="0">
            <a:spAutoFit/>
          </a:bodyPr>
          <a:lstStyle/>
          <a:p>
            <a:r>
              <a:rPr lang="en-US" sz="6600" b="1" i="1" dirty="0">
                <a:solidFill>
                  <a:schemeClr val="tx1"/>
                </a:solidFill>
                <a:effectLst/>
                <a:latin typeface="-apple-system"/>
              </a:rPr>
              <a:t>   	 </a:t>
            </a:r>
            <a:r>
              <a:rPr lang="en-US" sz="4000" b="1" i="1" dirty="0">
                <a:solidFill>
                  <a:schemeClr val="tx1"/>
                </a:solidFill>
                <a:effectLst/>
                <a:latin typeface="+mj-lt"/>
              </a:rPr>
              <a:t>What Say </a:t>
            </a:r>
            <a:r>
              <a:rPr lang="en-US" sz="4000" b="1" i="1" dirty="0">
                <a:solidFill>
                  <a:schemeClr val="tx1"/>
                </a:solidFill>
                <a:latin typeface="+mj-lt"/>
              </a:rPr>
              <a:t>You? A </a:t>
            </a:r>
            <a:r>
              <a:rPr lang="en-US" sz="4000" b="1" i="1" dirty="0">
                <a:solidFill>
                  <a:schemeClr val="tx1"/>
                </a:solidFill>
                <a:effectLst/>
                <a:latin typeface="+mj-lt"/>
                <a:cs typeface="KoHo" panose="020B0604020202020204" charset="-34"/>
              </a:rPr>
              <a:t>Amazon Prime Viewers’ Sentiment Analysis</a:t>
            </a:r>
            <a:endParaRPr lang="en-US" sz="4000" b="1" i="0" dirty="0">
              <a:solidFill>
                <a:schemeClr val="tx1"/>
              </a:solidFill>
              <a:effectLst/>
              <a:latin typeface="+mj-lt"/>
              <a:cs typeface="KoHo" panose="020B0604020202020204" charset="-34"/>
            </a:endParaRPr>
          </a:p>
          <a:p>
            <a:endParaRPr lang="en-US" dirty="0"/>
          </a:p>
        </p:txBody>
      </p:sp>
      <p:pic>
        <p:nvPicPr>
          <p:cNvPr id="7" name="Picture 6">
            <a:extLst>
              <a:ext uri="{FF2B5EF4-FFF2-40B4-BE49-F238E27FC236}">
                <a16:creationId xmlns:a16="http://schemas.microsoft.com/office/drawing/2014/main" id="{8003920F-016A-4984-BF2F-4116BD4586CF}"/>
              </a:ext>
            </a:extLst>
          </p:cNvPr>
          <p:cNvPicPr>
            <a:picLocks noChangeAspect="1"/>
          </p:cNvPicPr>
          <p:nvPr/>
        </p:nvPicPr>
        <p:blipFill>
          <a:blip r:embed="rId3"/>
          <a:stretch>
            <a:fillRect/>
          </a:stretch>
        </p:blipFill>
        <p:spPr>
          <a:xfrm>
            <a:off x="-3438284" y="-356920"/>
            <a:ext cx="4682384" cy="1323439"/>
          </a:xfrm>
          <a:prstGeom prst="rect">
            <a:avLst/>
          </a:prstGeom>
        </p:spPr>
      </p:pic>
    </p:spTree>
    <p:extLst>
      <p:ext uri="{BB962C8B-B14F-4D97-AF65-F5344CB8AC3E}">
        <p14:creationId xmlns:p14="http://schemas.microsoft.com/office/powerpoint/2010/main" val="1592249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ltDnDiag">
          <a:fgClr>
            <a:schemeClr val="tx2"/>
          </a:fgClr>
          <a:bgClr>
            <a:schemeClr val="bg1"/>
          </a:bgClr>
        </a:pattFill>
        <a:effectLst/>
      </p:bgPr>
    </p:bg>
    <p:spTree>
      <p:nvGrpSpPr>
        <p:cNvPr id="1" name="Shape 93"/>
        <p:cNvGrpSpPr/>
        <p:nvPr/>
      </p:nvGrpSpPr>
      <p:grpSpPr>
        <a:xfrm>
          <a:off x="0" y="0"/>
          <a:ext cx="0" cy="0"/>
          <a:chOff x="0" y="0"/>
          <a:chExt cx="0" cy="0"/>
        </a:xfrm>
      </p:grpSpPr>
      <p:grpSp>
        <p:nvGrpSpPr>
          <p:cNvPr id="94" name="Google Shape;94;p14"/>
          <p:cNvGrpSpPr/>
          <p:nvPr/>
        </p:nvGrpSpPr>
        <p:grpSpPr>
          <a:xfrm>
            <a:off x="0" y="-279489"/>
            <a:ext cx="18288000" cy="3473336"/>
            <a:chOff x="0" y="-66675"/>
            <a:chExt cx="4816593" cy="914788"/>
          </a:xfrm>
          <a:solidFill>
            <a:schemeClr val="accent5">
              <a:lumMod val="75000"/>
            </a:schemeClr>
          </a:solidFill>
        </p:grpSpPr>
        <p:sp>
          <p:nvSpPr>
            <p:cNvPr id="95" name="Google Shape;95;p14"/>
            <p:cNvSpPr/>
            <p:nvPr/>
          </p:nvSpPr>
          <p:spPr>
            <a:xfrm>
              <a:off x="0" y="0"/>
              <a:ext cx="4816592" cy="848113"/>
            </a:xfrm>
            <a:custGeom>
              <a:avLst/>
              <a:gdLst/>
              <a:ahLst/>
              <a:cxnLst/>
              <a:rect l="l" t="t" r="r" b="b"/>
              <a:pathLst>
                <a:path w="4816592" h="848113" extrusionOk="0">
                  <a:moveTo>
                    <a:pt x="0" y="0"/>
                  </a:moveTo>
                  <a:lnTo>
                    <a:pt x="4816592" y="0"/>
                  </a:lnTo>
                  <a:lnTo>
                    <a:pt x="4816592" y="848113"/>
                  </a:lnTo>
                  <a:lnTo>
                    <a:pt x="0" y="848113"/>
                  </a:lnTo>
                  <a:close/>
                </a:path>
              </a:pathLst>
            </a:custGeom>
            <a:grpFill/>
            <a:ln>
              <a:noFill/>
            </a:ln>
          </p:spPr>
          <p:txBody>
            <a:bodyPr/>
            <a:lstStyle/>
            <a:p>
              <a:endParaRPr lang="en-US"/>
            </a:p>
          </p:txBody>
        </p:sp>
        <p:sp>
          <p:nvSpPr>
            <p:cNvPr id="96" name="Google Shape;96;p14"/>
            <p:cNvSpPr txBox="1"/>
            <p:nvPr/>
          </p:nvSpPr>
          <p:spPr>
            <a:xfrm>
              <a:off x="0" y="-66675"/>
              <a:ext cx="4816593" cy="914788"/>
            </a:xfrm>
            <a:prstGeom prst="rect">
              <a:avLst/>
            </a:prstGeom>
            <a:grpFill/>
            <a:ln>
              <a:noFill/>
            </a:ln>
          </p:spPr>
          <p:txBody>
            <a:bodyPr spcFirstLastPara="1" wrap="square" lIns="50800" tIns="50800" rIns="50800" bIns="50800" anchor="ctr" anchorCtr="0">
              <a:noAutofit/>
            </a:bodyPr>
            <a:lstStyle/>
            <a:p>
              <a:pPr marL="0" marR="0" lvl="0" indent="0" algn="ctr" rtl="0">
                <a:lnSpc>
                  <a:spcPct val="1881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7" name="Google Shape;97;p14"/>
          <p:cNvSpPr txBox="1"/>
          <p:nvPr/>
        </p:nvSpPr>
        <p:spPr>
          <a:xfrm>
            <a:off x="1028700" y="979357"/>
            <a:ext cx="15709900" cy="1703223"/>
          </a:xfrm>
          <a:prstGeom prst="rect">
            <a:avLst/>
          </a:prstGeom>
          <a:noFill/>
          <a:ln>
            <a:noFill/>
          </a:ln>
        </p:spPr>
        <p:txBody>
          <a:bodyPr spcFirstLastPara="1" wrap="square" lIns="0" tIns="0" rIns="0" bIns="0" anchor="t" anchorCtr="0">
            <a:spAutoFit/>
          </a:bodyPr>
          <a:lstStyle/>
          <a:p>
            <a:pPr marL="0" marR="0" lvl="0" indent="0" algn="just" rtl="0">
              <a:lnSpc>
                <a:spcPct val="100000"/>
              </a:lnSpc>
              <a:spcBef>
                <a:spcPts val="0"/>
              </a:spcBef>
              <a:spcAft>
                <a:spcPts val="0"/>
              </a:spcAft>
              <a:buNone/>
            </a:pPr>
            <a:r>
              <a:rPr lang="en-US" sz="11068" dirty="0">
                <a:solidFill>
                  <a:srgbClr val="FFFDFC"/>
                </a:solidFill>
                <a:latin typeface="Paytone One"/>
                <a:sym typeface="Paytone One"/>
              </a:rPr>
              <a:t>PROBLEM STATEMENT</a:t>
            </a:r>
            <a:endParaRPr lang="en-US" dirty="0"/>
          </a:p>
        </p:txBody>
      </p:sp>
      <p:sp>
        <p:nvSpPr>
          <p:cNvPr id="98" name="Google Shape;98;p14"/>
          <p:cNvSpPr txBox="1"/>
          <p:nvPr/>
        </p:nvSpPr>
        <p:spPr>
          <a:xfrm>
            <a:off x="381000" y="3516100"/>
            <a:ext cx="8001000" cy="5481501"/>
          </a:xfrm>
          <a:prstGeom prst="rect">
            <a:avLst/>
          </a:prstGeom>
          <a:noFill/>
          <a:ln>
            <a:noFill/>
          </a:ln>
        </p:spPr>
        <p:txBody>
          <a:bodyPr spcFirstLastPara="1" wrap="square" lIns="0" tIns="0" rIns="0" bIns="0" anchor="t" anchorCtr="0">
            <a:spAutoFit/>
          </a:bodyPr>
          <a:lstStyle/>
          <a:p>
            <a:pPr marL="0" marR="0" lvl="0" indent="0" algn="just" rtl="0">
              <a:lnSpc>
                <a:spcPct val="130010"/>
              </a:lnSpc>
              <a:spcBef>
                <a:spcPts val="0"/>
              </a:spcBef>
              <a:spcAft>
                <a:spcPts val="0"/>
              </a:spcAft>
              <a:buNone/>
            </a:pPr>
            <a:r>
              <a:rPr lang="en-US" sz="7200" b="1" dirty="0">
                <a:latin typeface="KoHo" panose="020B0604020202020204" charset="-34"/>
                <a:cs typeface="KoHo" panose="020B0604020202020204" charset="-34"/>
              </a:rPr>
              <a:t>The challenge</a:t>
            </a:r>
          </a:p>
          <a:p>
            <a:pPr marL="0" marR="0" lvl="0" indent="0" algn="just" rtl="0">
              <a:lnSpc>
                <a:spcPct val="130010"/>
              </a:lnSpc>
              <a:spcBef>
                <a:spcPts val="0"/>
              </a:spcBef>
              <a:spcAft>
                <a:spcPts val="0"/>
              </a:spcAft>
              <a:buNone/>
            </a:pPr>
            <a:endParaRPr lang="en-US" sz="900" b="1" dirty="0">
              <a:latin typeface="KoHo" panose="020B0604020202020204" charset="-34"/>
              <a:cs typeface="KoHo" panose="020B0604020202020204" charset="-34"/>
            </a:endParaRPr>
          </a:p>
          <a:p>
            <a:pPr marR="0" lvl="0" rtl="0">
              <a:lnSpc>
                <a:spcPct val="130010"/>
              </a:lnSpc>
              <a:spcBef>
                <a:spcPts val="0"/>
              </a:spcBef>
              <a:spcAft>
                <a:spcPts val="0"/>
              </a:spcAft>
            </a:pPr>
            <a:r>
              <a:rPr lang="en-US" sz="3600" dirty="0">
                <a:latin typeface="+mj-lt"/>
                <a:cs typeface="KoHo" panose="020B0604020202020204" charset="-34"/>
              </a:rPr>
              <a:t>The film industry is highly reviewed industry and from the reviews, they advise the next and viable options for investments and re-investment in the industry</a:t>
            </a:r>
          </a:p>
          <a:p>
            <a:pPr marR="0" lvl="0" algn="just" rtl="0">
              <a:lnSpc>
                <a:spcPct val="130010"/>
              </a:lnSpc>
              <a:spcBef>
                <a:spcPts val="0"/>
              </a:spcBef>
              <a:spcAft>
                <a:spcPts val="0"/>
              </a:spcAft>
            </a:pPr>
            <a:endParaRPr sz="1300" dirty="0"/>
          </a:p>
        </p:txBody>
      </p:sp>
      <p:sp>
        <p:nvSpPr>
          <p:cNvPr id="11" name="TextBox 10">
            <a:extLst>
              <a:ext uri="{FF2B5EF4-FFF2-40B4-BE49-F238E27FC236}">
                <a16:creationId xmlns:a16="http://schemas.microsoft.com/office/drawing/2014/main" id="{E568BB32-2E06-44E3-95B5-043D747B01FA}"/>
              </a:ext>
            </a:extLst>
          </p:cNvPr>
          <p:cNvSpPr txBox="1"/>
          <p:nvPr/>
        </p:nvSpPr>
        <p:spPr>
          <a:xfrm>
            <a:off x="8746324" y="3447004"/>
            <a:ext cx="9160676" cy="5386090"/>
          </a:xfrm>
          <a:prstGeom prst="rect">
            <a:avLst/>
          </a:prstGeom>
          <a:noFill/>
        </p:spPr>
        <p:txBody>
          <a:bodyPr wrap="square">
            <a:spAutoFit/>
          </a:bodyPr>
          <a:lstStyle/>
          <a:p>
            <a:r>
              <a:rPr lang="en-US" sz="7200" b="1" dirty="0">
                <a:latin typeface="KoHo" panose="020B0604020202020204" charset="-34"/>
                <a:cs typeface="KoHo" panose="020B0604020202020204" charset="-34"/>
              </a:rPr>
              <a:t>Project Goal</a:t>
            </a:r>
          </a:p>
          <a:p>
            <a:endParaRPr lang="en-US" b="1" dirty="0">
              <a:latin typeface="KoHo" panose="020B0604020202020204" charset="-34"/>
              <a:cs typeface="KoHo" panose="020B0604020202020204" charset="-34"/>
            </a:endParaRPr>
          </a:p>
          <a:p>
            <a:r>
              <a:rPr lang="en-US" sz="3600" b="0" i="0" dirty="0">
                <a:effectLst/>
                <a:latin typeface="KoHo" panose="020B0604020202020204" charset="-34"/>
                <a:cs typeface="KoHo" panose="020B0604020202020204" charset="-34"/>
              </a:rPr>
              <a:t>The goal is to derive valuable insights into user sentiment, and addressing patterns of positive, neutral, and negative feedback. Understanding sentiment trends can help uncover critical insights into customer satisfaction and areas for improvement</a:t>
            </a:r>
            <a:r>
              <a:rPr lang="en-US" b="0" i="0" dirty="0">
                <a:effectLst/>
                <a:latin typeface="KoHo" panose="020B0604020202020204" charset="-34"/>
                <a:cs typeface="KoHo" panose="020B0604020202020204" charset="-34"/>
              </a:rPr>
              <a:t>.</a:t>
            </a:r>
            <a:endParaRPr lang="en-US" b="1" dirty="0">
              <a:latin typeface="KoHo" panose="020B0604020202020204" charset="-34"/>
              <a:cs typeface="KoHo" panose="020B0604020202020204" charset="-34"/>
            </a:endParaRPr>
          </a:p>
          <a:p>
            <a:endParaRPr lang="en-US" b="1" dirty="0">
              <a:latin typeface="KoHo" panose="020B0604020202020204" charset="-34"/>
              <a:cs typeface="KoHo" panose="020B0604020202020204" charset="-34"/>
            </a:endParaRPr>
          </a:p>
          <a:p>
            <a:endParaRPr lang="en-US" b="1" dirty="0">
              <a:latin typeface="KoHo" panose="020B0604020202020204" charset="-34"/>
              <a:cs typeface="KoHo" panose="020B0604020202020204" charset="-34"/>
            </a:endParaRPr>
          </a:p>
          <a:p>
            <a:endParaRPr lang="en-US" b="1" dirty="0">
              <a:latin typeface="KoHo" panose="020B0604020202020204" charset="-34"/>
              <a:cs typeface="KoHo" panose="020B0604020202020204" charset="-34"/>
            </a:endParaRPr>
          </a:p>
        </p:txBody>
      </p:sp>
      <p:pic>
        <p:nvPicPr>
          <p:cNvPr id="2" name="Picture 1">
            <a:extLst>
              <a:ext uri="{FF2B5EF4-FFF2-40B4-BE49-F238E27FC236}">
                <a16:creationId xmlns:a16="http://schemas.microsoft.com/office/drawing/2014/main" id="{8BBA03F9-9FB6-4A08-8C42-2249B4992297}"/>
              </a:ext>
            </a:extLst>
          </p:cNvPr>
          <p:cNvPicPr>
            <a:picLocks noChangeAspect="1"/>
          </p:cNvPicPr>
          <p:nvPr/>
        </p:nvPicPr>
        <p:blipFill rotWithShape="1">
          <a:blip r:embed="rId3">
            <a:alphaModFix amt="74000"/>
          </a:blip>
          <a:srcRect t="55237" r="401" b="26405"/>
          <a:stretch/>
        </p:blipFill>
        <p:spPr>
          <a:xfrm>
            <a:off x="381000" y="8549640"/>
            <a:ext cx="16778604" cy="1737360"/>
          </a:xfrm>
          <a:prstGeom prst="rect">
            <a:avLst/>
          </a:prstGeom>
        </p:spPr>
      </p:pic>
      <p:pic>
        <p:nvPicPr>
          <p:cNvPr id="4" name="Picture 3">
            <a:extLst>
              <a:ext uri="{FF2B5EF4-FFF2-40B4-BE49-F238E27FC236}">
                <a16:creationId xmlns:a16="http://schemas.microsoft.com/office/drawing/2014/main" id="{64E83CF7-F618-432D-AD1B-553DD23A7556}"/>
              </a:ext>
            </a:extLst>
          </p:cNvPr>
          <p:cNvPicPr>
            <a:picLocks noChangeAspect="1"/>
          </p:cNvPicPr>
          <p:nvPr/>
        </p:nvPicPr>
        <p:blipFill>
          <a:blip r:embed="rId4"/>
          <a:stretch>
            <a:fillRect/>
          </a:stretch>
        </p:blipFill>
        <p:spPr>
          <a:xfrm>
            <a:off x="16676" y="8650158"/>
            <a:ext cx="2024047" cy="15363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44000"/>
          </a:schemeClr>
        </a:solidFill>
        <a:effectLst/>
      </p:bgPr>
    </p:bg>
    <p:spTree>
      <p:nvGrpSpPr>
        <p:cNvPr id="1" name="Shape 143"/>
        <p:cNvGrpSpPr/>
        <p:nvPr/>
      </p:nvGrpSpPr>
      <p:grpSpPr>
        <a:xfrm>
          <a:off x="0" y="0"/>
          <a:ext cx="0" cy="0"/>
          <a:chOff x="0" y="0"/>
          <a:chExt cx="0" cy="0"/>
        </a:xfrm>
      </p:grpSpPr>
      <p:sp>
        <p:nvSpPr>
          <p:cNvPr id="2" name="TextBox 1">
            <a:extLst>
              <a:ext uri="{FF2B5EF4-FFF2-40B4-BE49-F238E27FC236}">
                <a16:creationId xmlns:a16="http://schemas.microsoft.com/office/drawing/2014/main" id="{39FF9DB7-50AA-4105-B24B-77E343B6516D}"/>
              </a:ext>
            </a:extLst>
          </p:cNvPr>
          <p:cNvSpPr txBox="1"/>
          <p:nvPr/>
        </p:nvSpPr>
        <p:spPr>
          <a:xfrm>
            <a:off x="2606040" y="937260"/>
            <a:ext cx="10104120" cy="646331"/>
          </a:xfrm>
          <a:prstGeom prst="rect">
            <a:avLst/>
          </a:prstGeom>
          <a:noFill/>
        </p:spPr>
        <p:txBody>
          <a:bodyPr wrap="square" rtlCol="0">
            <a:spAutoFit/>
          </a:bodyPr>
          <a:lstStyle/>
          <a:p>
            <a:r>
              <a:rPr lang="en-US" sz="3600" b="1" dirty="0">
                <a:latin typeface="KoHo" panose="020B0604020202020204" charset="-34"/>
                <a:cs typeface="KoHo" panose="020B0604020202020204" charset="-34"/>
              </a:rPr>
              <a:t>					OBJECTIVES</a:t>
            </a:r>
          </a:p>
        </p:txBody>
      </p:sp>
      <p:sp>
        <p:nvSpPr>
          <p:cNvPr id="3" name="Arrow: Right 2">
            <a:extLst>
              <a:ext uri="{FF2B5EF4-FFF2-40B4-BE49-F238E27FC236}">
                <a16:creationId xmlns:a16="http://schemas.microsoft.com/office/drawing/2014/main" id="{859BBC0C-D445-4531-8D6A-70D550E54A6C}"/>
              </a:ext>
            </a:extLst>
          </p:cNvPr>
          <p:cNvSpPr/>
          <p:nvPr/>
        </p:nvSpPr>
        <p:spPr>
          <a:xfrm>
            <a:off x="-411480" y="1260425"/>
            <a:ext cx="6377940" cy="1257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KoHo" panose="020B0604020202020204" charset="-34"/>
                <a:cs typeface="KoHo" panose="020B0604020202020204" charset="-34"/>
              </a:rPr>
              <a:t>Understanding Customer preferences</a:t>
            </a:r>
          </a:p>
        </p:txBody>
      </p:sp>
      <p:sp>
        <p:nvSpPr>
          <p:cNvPr id="4" name="TextBox 3">
            <a:extLst>
              <a:ext uri="{FF2B5EF4-FFF2-40B4-BE49-F238E27FC236}">
                <a16:creationId xmlns:a16="http://schemas.microsoft.com/office/drawing/2014/main" id="{C47C8C07-DD35-4961-A6D9-5A80C797136C}"/>
              </a:ext>
            </a:extLst>
          </p:cNvPr>
          <p:cNvSpPr txBox="1"/>
          <p:nvPr/>
        </p:nvSpPr>
        <p:spPr>
          <a:xfrm>
            <a:off x="845820" y="2834640"/>
            <a:ext cx="14470380" cy="1323439"/>
          </a:xfrm>
          <a:prstGeom prst="rect">
            <a:avLst/>
          </a:prstGeom>
          <a:noFill/>
        </p:spPr>
        <p:txBody>
          <a:bodyPr wrap="square" rtlCol="0">
            <a:spAutoFit/>
          </a:bodyPr>
          <a:lstStyle/>
          <a:p>
            <a:r>
              <a:rPr lang="en-US" sz="2000" b="0" i="0" dirty="0">
                <a:effectLst/>
                <a:latin typeface="KoHo" panose="020B0604020202020204" charset="-34"/>
                <a:cs typeface="KoHo" panose="020B0604020202020204" charset="-34"/>
              </a:rPr>
              <a:t>By analyzing reviews, Amazon Prime Video can identify specific content genres, themes, or features that audiences love or dislike. For instance, if a series receives overwhelmingly positive feedback for its storyline or casting, they can prioritize producing similar content.</a:t>
            </a:r>
          </a:p>
          <a:p>
            <a:endParaRPr lang="en-US" sz="2000" dirty="0">
              <a:latin typeface="KoHo" panose="020B0604020202020204" charset="-34"/>
              <a:cs typeface="KoHo" panose="020B0604020202020204" charset="-34"/>
            </a:endParaRPr>
          </a:p>
        </p:txBody>
      </p:sp>
      <p:sp>
        <p:nvSpPr>
          <p:cNvPr id="5" name="Arrow: Right 4">
            <a:extLst>
              <a:ext uri="{FF2B5EF4-FFF2-40B4-BE49-F238E27FC236}">
                <a16:creationId xmlns:a16="http://schemas.microsoft.com/office/drawing/2014/main" id="{9F10690D-2E29-4E94-BA32-407763E5D2C4}"/>
              </a:ext>
            </a:extLst>
          </p:cNvPr>
          <p:cNvSpPr/>
          <p:nvPr/>
        </p:nvSpPr>
        <p:spPr>
          <a:xfrm>
            <a:off x="-228600" y="4091940"/>
            <a:ext cx="6195060" cy="1257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KoHo" panose="020B0604020202020204" charset="-34"/>
                <a:cs typeface="KoHo" panose="020B0604020202020204" charset="-34"/>
              </a:rPr>
              <a:t>Improving content quality</a:t>
            </a:r>
          </a:p>
        </p:txBody>
      </p:sp>
      <p:sp>
        <p:nvSpPr>
          <p:cNvPr id="7" name="TextBox 6">
            <a:extLst>
              <a:ext uri="{FF2B5EF4-FFF2-40B4-BE49-F238E27FC236}">
                <a16:creationId xmlns:a16="http://schemas.microsoft.com/office/drawing/2014/main" id="{E3FD96AA-E202-460B-A048-E8EB1DEE12AF}"/>
              </a:ext>
            </a:extLst>
          </p:cNvPr>
          <p:cNvSpPr txBox="1"/>
          <p:nvPr/>
        </p:nvSpPr>
        <p:spPr>
          <a:xfrm>
            <a:off x="845820" y="5349240"/>
            <a:ext cx="14653260" cy="707886"/>
          </a:xfrm>
          <a:prstGeom prst="rect">
            <a:avLst/>
          </a:prstGeom>
          <a:noFill/>
        </p:spPr>
        <p:txBody>
          <a:bodyPr wrap="square" rtlCol="0">
            <a:spAutoFit/>
          </a:bodyPr>
          <a:lstStyle/>
          <a:p>
            <a:r>
              <a:rPr lang="en-US" sz="2000" dirty="0">
                <a:latin typeface="KoHo" panose="020B0604020202020204" charset="-34"/>
                <a:cs typeface="KoHo" panose="020B0604020202020204" charset="-34"/>
              </a:rPr>
              <a:t>F</a:t>
            </a:r>
            <a:r>
              <a:rPr lang="en-US" sz="2000" b="0" i="0" dirty="0">
                <a:effectLst/>
                <a:latin typeface="KoHo" panose="020B0604020202020204" charset="-34"/>
                <a:cs typeface="KoHo" panose="020B0604020202020204" charset="-34"/>
              </a:rPr>
              <a:t>eedback from negative sentiment can pinpoint areas of dissatisfaction, such as weak storylines, poor production quality, or technical issues. This information allows Prime Video to improve its offerings and avoid repeated mistakes.</a:t>
            </a:r>
            <a:endParaRPr lang="en-US" sz="2000" dirty="0">
              <a:latin typeface="KoHo" panose="020B0604020202020204" charset="-34"/>
              <a:cs typeface="KoHo" panose="020B0604020202020204" charset="-34"/>
            </a:endParaRPr>
          </a:p>
        </p:txBody>
      </p:sp>
      <p:sp>
        <p:nvSpPr>
          <p:cNvPr id="9" name="Arrow: Right 8">
            <a:extLst>
              <a:ext uri="{FF2B5EF4-FFF2-40B4-BE49-F238E27FC236}">
                <a16:creationId xmlns:a16="http://schemas.microsoft.com/office/drawing/2014/main" id="{0F0F1879-AB11-4134-8FBC-93889C8B0948}"/>
              </a:ext>
            </a:extLst>
          </p:cNvPr>
          <p:cNvSpPr/>
          <p:nvPr/>
        </p:nvSpPr>
        <p:spPr>
          <a:xfrm>
            <a:off x="-411480" y="6309360"/>
            <a:ext cx="6377940" cy="1257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KoHo" panose="020B0604020202020204" charset="-34"/>
                <a:cs typeface="KoHo" panose="020B0604020202020204" charset="-34"/>
              </a:rPr>
              <a:t>Targeted Marketing Strategies</a:t>
            </a:r>
          </a:p>
        </p:txBody>
      </p:sp>
      <p:sp>
        <p:nvSpPr>
          <p:cNvPr id="10" name="TextBox 9">
            <a:extLst>
              <a:ext uri="{FF2B5EF4-FFF2-40B4-BE49-F238E27FC236}">
                <a16:creationId xmlns:a16="http://schemas.microsoft.com/office/drawing/2014/main" id="{AE84C85F-F12F-471E-881B-32205A45B9D2}"/>
              </a:ext>
            </a:extLst>
          </p:cNvPr>
          <p:cNvSpPr txBox="1"/>
          <p:nvPr/>
        </p:nvSpPr>
        <p:spPr>
          <a:xfrm>
            <a:off x="685800" y="7566660"/>
            <a:ext cx="14973300" cy="707886"/>
          </a:xfrm>
          <a:prstGeom prst="rect">
            <a:avLst/>
          </a:prstGeom>
          <a:noFill/>
        </p:spPr>
        <p:txBody>
          <a:bodyPr wrap="square" rtlCol="0">
            <a:spAutoFit/>
          </a:bodyPr>
          <a:lstStyle/>
          <a:p>
            <a:r>
              <a:rPr lang="en-US" sz="2000" b="0" i="0" dirty="0">
                <a:effectLst/>
                <a:latin typeface="KoHo" panose="020B0604020202020204" charset="-34"/>
                <a:cs typeface="KoHo" panose="020B0604020202020204" charset="-34"/>
              </a:rPr>
              <a:t>Positive sentiment analysis can help identify which content resonates most with users. These insights can guide marketing campaigns, focusing on promoting highly-rated shows and movies to attract new users and retain existing ones.</a:t>
            </a:r>
            <a:endParaRPr lang="en-US" sz="2000" dirty="0">
              <a:latin typeface="KoHo" panose="020B0604020202020204" charset="-34"/>
              <a:cs typeface="KoHo" panose="020B0604020202020204" charset="-34"/>
            </a:endParaRPr>
          </a:p>
        </p:txBody>
      </p:sp>
      <p:pic>
        <p:nvPicPr>
          <p:cNvPr id="11" name="Picture 10">
            <a:extLst>
              <a:ext uri="{FF2B5EF4-FFF2-40B4-BE49-F238E27FC236}">
                <a16:creationId xmlns:a16="http://schemas.microsoft.com/office/drawing/2014/main" id="{F527818B-0929-4ECF-A15B-60C07191D3B3}"/>
              </a:ext>
            </a:extLst>
          </p:cNvPr>
          <p:cNvPicPr>
            <a:picLocks noChangeAspect="1"/>
          </p:cNvPicPr>
          <p:nvPr/>
        </p:nvPicPr>
        <p:blipFill>
          <a:blip r:embed="rId3"/>
          <a:stretch>
            <a:fillRect/>
          </a:stretch>
        </p:blipFill>
        <p:spPr>
          <a:xfrm>
            <a:off x="14656881" y="362499"/>
            <a:ext cx="3631119" cy="1843491"/>
          </a:xfrm>
          <a:prstGeom prst="rect">
            <a:avLst/>
          </a:prstGeom>
        </p:spPr>
      </p:pic>
      <p:pic>
        <p:nvPicPr>
          <p:cNvPr id="12" name="Picture 11">
            <a:extLst>
              <a:ext uri="{FF2B5EF4-FFF2-40B4-BE49-F238E27FC236}">
                <a16:creationId xmlns:a16="http://schemas.microsoft.com/office/drawing/2014/main" id="{35FE68C6-E18A-464E-8FFA-637A8B86BBED}"/>
              </a:ext>
            </a:extLst>
          </p:cNvPr>
          <p:cNvPicPr>
            <a:picLocks noChangeAspect="1"/>
          </p:cNvPicPr>
          <p:nvPr/>
        </p:nvPicPr>
        <p:blipFill>
          <a:blip r:embed="rId4"/>
          <a:stretch>
            <a:fillRect/>
          </a:stretch>
        </p:blipFill>
        <p:spPr>
          <a:xfrm>
            <a:off x="14447520" y="-93269"/>
            <a:ext cx="3840480" cy="26756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5000"/>
          </a:schemeClr>
        </a:solidFill>
        <a:effectLst/>
      </p:bgPr>
    </p:bg>
    <p:spTree>
      <p:nvGrpSpPr>
        <p:cNvPr id="1" name="Shape 212"/>
        <p:cNvGrpSpPr/>
        <p:nvPr/>
      </p:nvGrpSpPr>
      <p:grpSpPr>
        <a:xfrm>
          <a:off x="0" y="0"/>
          <a:ext cx="0" cy="0"/>
          <a:chOff x="0" y="0"/>
          <a:chExt cx="0" cy="0"/>
        </a:xfrm>
      </p:grpSpPr>
      <p:pic>
        <p:nvPicPr>
          <p:cNvPr id="213" name="Google Shape;213;p20"/>
          <p:cNvPicPr preferRelativeResize="0"/>
          <p:nvPr/>
        </p:nvPicPr>
        <p:blipFill>
          <a:blip r:embed="rId3">
            <a:alphaModFix/>
          </a:blip>
          <a:stretch>
            <a:fillRect/>
          </a:stretch>
        </p:blipFill>
        <p:spPr>
          <a:xfrm>
            <a:off x="11907950" y="1028700"/>
            <a:ext cx="5541850" cy="3867882"/>
          </a:xfrm>
          <a:prstGeom prst="rect">
            <a:avLst/>
          </a:prstGeom>
          <a:noFill/>
          <a:ln>
            <a:noFill/>
          </a:ln>
        </p:spPr>
      </p:pic>
      <p:sp>
        <p:nvSpPr>
          <p:cNvPr id="214" name="Google Shape;214;p20"/>
          <p:cNvSpPr txBox="1"/>
          <p:nvPr/>
        </p:nvSpPr>
        <p:spPr>
          <a:xfrm>
            <a:off x="1028700" y="5880101"/>
            <a:ext cx="15338700" cy="200041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999" b="1" dirty="0">
                <a:solidFill>
                  <a:srgbClr val="1C1C1C"/>
                </a:solidFill>
                <a:latin typeface="KoHo" panose="020B0604020202020204" charset="-34"/>
                <a:cs typeface="KoHo" panose="020B0604020202020204" charset="-34"/>
                <a:sym typeface="Paytone One"/>
              </a:rPr>
              <a:t>VISUALIZATION</a:t>
            </a:r>
            <a:endParaRPr b="1" dirty="0">
              <a:latin typeface="KoHo" panose="020B0604020202020204" charset="-34"/>
              <a:cs typeface="KoHo" panose="020B0604020202020204" charset="-34"/>
            </a:endParaRPr>
          </a:p>
        </p:txBody>
      </p:sp>
      <p:pic>
        <p:nvPicPr>
          <p:cNvPr id="216" name="Google Shape;216;p20"/>
          <p:cNvPicPr preferRelativeResize="0"/>
          <p:nvPr/>
        </p:nvPicPr>
        <p:blipFill>
          <a:blip r:embed="rId4">
            <a:alphaModFix/>
          </a:blip>
          <a:stretch>
            <a:fillRect/>
          </a:stretch>
        </p:blipFill>
        <p:spPr>
          <a:xfrm>
            <a:off x="0" y="1056350"/>
            <a:ext cx="11907952" cy="3364187"/>
          </a:xfrm>
          <a:prstGeom prst="rect">
            <a:avLst/>
          </a:prstGeom>
          <a:noFill/>
          <a:ln>
            <a:noFill/>
          </a:ln>
        </p:spPr>
      </p:pic>
      <p:pic>
        <p:nvPicPr>
          <p:cNvPr id="1026" name="Picture 2" descr="1,700 Amazon Prime Video Images, Stock Photos, 3D objects ...">
            <a:extLst>
              <a:ext uri="{FF2B5EF4-FFF2-40B4-BE49-F238E27FC236}">
                <a16:creationId xmlns:a16="http://schemas.microsoft.com/office/drawing/2014/main" id="{ECFADE08-8ADA-4A36-B2B3-B800A583F6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1635" y="1638971"/>
            <a:ext cx="5074479" cy="27815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20000"/>
              <a:lumOff val="80000"/>
            </a:schemeClr>
          </a:fgClr>
          <a:bgClr>
            <a:schemeClr val="bg1"/>
          </a:bgClr>
        </a:patt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24B97A-456C-48AE-8D37-28AFAC17DCA6}"/>
              </a:ext>
            </a:extLst>
          </p:cNvPr>
          <p:cNvPicPr>
            <a:picLocks noChangeAspect="1"/>
          </p:cNvPicPr>
          <p:nvPr/>
        </p:nvPicPr>
        <p:blipFill>
          <a:blip r:embed="rId2"/>
          <a:stretch>
            <a:fillRect/>
          </a:stretch>
        </p:blipFill>
        <p:spPr>
          <a:xfrm>
            <a:off x="106680" y="626098"/>
            <a:ext cx="11486197" cy="7827340"/>
          </a:xfrm>
          <a:prstGeom prst="rect">
            <a:avLst/>
          </a:prstGeom>
        </p:spPr>
      </p:pic>
      <p:sp>
        <p:nvSpPr>
          <p:cNvPr id="7" name="TextBox 6">
            <a:extLst>
              <a:ext uri="{FF2B5EF4-FFF2-40B4-BE49-F238E27FC236}">
                <a16:creationId xmlns:a16="http://schemas.microsoft.com/office/drawing/2014/main" id="{565FFF9A-646E-468B-95D2-394607280EC0}"/>
              </a:ext>
            </a:extLst>
          </p:cNvPr>
          <p:cNvSpPr txBox="1"/>
          <p:nvPr/>
        </p:nvSpPr>
        <p:spPr>
          <a:xfrm>
            <a:off x="11932920" y="1249680"/>
            <a:ext cx="6050280" cy="6771084"/>
          </a:xfrm>
          <a:prstGeom prst="rect">
            <a:avLst/>
          </a:prstGeom>
          <a:noFill/>
        </p:spPr>
        <p:txBody>
          <a:bodyPr wrap="square" rtlCol="0">
            <a:spAutoFit/>
          </a:bodyPr>
          <a:lstStyle/>
          <a:p>
            <a:r>
              <a:rPr lang="en-US" sz="2100" b="0" dirty="0">
                <a:solidFill>
                  <a:schemeClr val="tx1"/>
                </a:solidFill>
                <a:effectLst/>
                <a:latin typeface="KoHo" panose="020B0604020202020204" charset="-34"/>
                <a:cs typeface="KoHo" panose="020B0604020202020204" charset="-34"/>
              </a:rPr>
              <a:t>- </a:t>
            </a:r>
            <a:r>
              <a:rPr lang="en-US" sz="2100" b="1" dirty="0">
                <a:solidFill>
                  <a:schemeClr val="tx1"/>
                </a:solidFill>
                <a:effectLst/>
                <a:latin typeface="KoHo" panose="020B0604020202020204" charset="-34"/>
                <a:cs typeface="KoHo" panose="020B0604020202020204" charset="-34"/>
              </a:rPr>
              <a:t>Positive Reviews </a:t>
            </a:r>
            <a:r>
              <a:rPr lang="en-US" sz="2100" b="0" dirty="0">
                <a:solidFill>
                  <a:schemeClr val="tx1"/>
                </a:solidFill>
                <a:effectLst/>
                <a:latin typeface="KoHo" panose="020B0604020202020204" charset="-34"/>
                <a:cs typeface="KoHo" panose="020B0604020202020204" charset="-34"/>
              </a:rPr>
              <a:t>dominate, with significantly more reviews in this category (over 20,000). This suggests a strong leaning toward positivity in the dataset.</a:t>
            </a:r>
          </a:p>
          <a:p>
            <a:br>
              <a:rPr lang="en-US" sz="2100" b="0" dirty="0">
                <a:solidFill>
                  <a:schemeClr val="tx1"/>
                </a:solidFill>
                <a:effectLst/>
                <a:latin typeface="KoHo" panose="020B0604020202020204" charset="-34"/>
                <a:cs typeface="KoHo" panose="020B0604020202020204" charset="-34"/>
              </a:rPr>
            </a:br>
            <a:r>
              <a:rPr lang="en-US" sz="2100" b="0" dirty="0">
                <a:solidFill>
                  <a:schemeClr val="tx1"/>
                </a:solidFill>
                <a:effectLst/>
                <a:latin typeface="KoHo" panose="020B0604020202020204" charset="-34"/>
                <a:cs typeface="KoHo" panose="020B0604020202020204" charset="-34"/>
              </a:rPr>
              <a:t>- </a:t>
            </a:r>
            <a:r>
              <a:rPr lang="en-US" sz="2100" b="1" dirty="0">
                <a:solidFill>
                  <a:schemeClr val="tx1"/>
                </a:solidFill>
                <a:effectLst/>
                <a:latin typeface="KoHo" panose="020B0604020202020204" charset="-34"/>
                <a:cs typeface="KoHo" panose="020B0604020202020204" charset="-34"/>
              </a:rPr>
              <a:t>Negative Reviews </a:t>
            </a:r>
            <a:r>
              <a:rPr lang="en-US" sz="2100" b="0" dirty="0">
                <a:solidFill>
                  <a:schemeClr val="tx1"/>
                </a:solidFill>
                <a:effectLst/>
                <a:latin typeface="KoHo" panose="020B0604020202020204" charset="-34"/>
                <a:cs typeface="KoHo" panose="020B0604020202020204" charset="-34"/>
              </a:rPr>
              <a:t>are far fewer, numbering around 3,000. This indicates fewer people expressed negative sentiments.</a:t>
            </a:r>
          </a:p>
          <a:p>
            <a:br>
              <a:rPr lang="en-US" sz="2100" b="0" dirty="0">
                <a:solidFill>
                  <a:schemeClr val="tx1"/>
                </a:solidFill>
                <a:effectLst/>
                <a:latin typeface="KoHo" panose="020B0604020202020204" charset="-34"/>
                <a:cs typeface="KoHo" panose="020B0604020202020204" charset="-34"/>
              </a:rPr>
            </a:br>
            <a:r>
              <a:rPr lang="en-US" sz="2100" b="0" dirty="0">
                <a:solidFill>
                  <a:schemeClr val="tx1"/>
                </a:solidFill>
                <a:effectLst/>
                <a:latin typeface="KoHo" panose="020B0604020202020204" charset="-34"/>
                <a:cs typeface="KoHo" panose="020B0604020202020204" charset="-34"/>
              </a:rPr>
              <a:t>-  </a:t>
            </a:r>
            <a:r>
              <a:rPr lang="en-US" sz="2100" b="1" dirty="0">
                <a:solidFill>
                  <a:schemeClr val="tx1"/>
                </a:solidFill>
                <a:effectLst/>
                <a:latin typeface="KoHo" panose="020B0604020202020204" charset="-34"/>
                <a:cs typeface="KoHo" panose="020B0604020202020204" charset="-34"/>
              </a:rPr>
              <a:t>Neutral Reviews </a:t>
            </a:r>
            <a:r>
              <a:rPr lang="en-US" sz="2100" b="0" dirty="0">
                <a:solidFill>
                  <a:schemeClr val="tx1"/>
                </a:solidFill>
                <a:effectLst/>
                <a:latin typeface="KoHo" panose="020B0604020202020204" charset="-34"/>
                <a:cs typeface="KoHo" panose="020B0604020202020204" charset="-34"/>
              </a:rPr>
              <a:t>are the least frequent, with around 2,500 reviews. This suggests a smaller portion of reviews are neither strongly positive nor negative.</a:t>
            </a:r>
          </a:p>
          <a:p>
            <a:br>
              <a:rPr lang="en-US" sz="2100" b="0" dirty="0">
                <a:solidFill>
                  <a:schemeClr val="tx1"/>
                </a:solidFill>
                <a:effectLst/>
                <a:latin typeface="KoHo" panose="020B0604020202020204" charset="-34"/>
                <a:cs typeface="KoHo" panose="020B0604020202020204" charset="-34"/>
              </a:rPr>
            </a:br>
            <a:r>
              <a:rPr lang="en-US" sz="2100" b="0" dirty="0">
                <a:solidFill>
                  <a:schemeClr val="tx1"/>
                </a:solidFill>
                <a:effectLst/>
                <a:latin typeface="KoHo" panose="020B0604020202020204" charset="-34"/>
                <a:cs typeface="KoHo" panose="020B0604020202020204" charset="-34"/>
              </a:rPr>
              <a:t>This class imbalance could have implications for sentiment analysis, such as potential biases in a predictive model if the imbalance isn't addressed. Addressing these imbalances (e.g., via resampling, weighting, or other methods) will be considered during modeling.</a:t>
            </a:r>
          </a:p>
          <a:p>
            <a:endParaRPr lang="en-US" b="0" dirty="0">
              <a:solidFill>
                <a:srgbClr val="FFFFFF"/>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2176D857-E2AE-4046-9B61-6EC4B3F00516}"/>
              </a:ext>
            </a:extLst>
          </p:cNvPr>
          <p:cNvPicPr>
            <a:picLocks noChangeAspect="1"/>
          </p:cNvPicPr>
          <p:nvPr/>
        </p:nvPicPr>
        <p:blipFill>
          <a:blip r:embed="rId3"/>
          <a:stretch>
            <a:fillRect/>
          </a:stretch>
        </p:blipFill>
        <p:spPr>
          <a:xfrm>
            <a:off x="15322048" y="7827159"/>
            <a:ext cx="2859272" cy="2420322"/>
          </a:xfrm>
          <a:prstGeom prst="rect">
            <a:avLst/>
          </a:prstGeom>
        </p:spPr>
      </p:pic>
      <p:pic>
        <p:nvPicPr>
          <p:cNvPr id="9" name="Picture 8">
            <a:extLst>
              <a:ext uri="{FF2B5EF4-FFF2-40B4-BE49-F238E27FC236}">
                <a16:creationId xmlns:a16="http://schemas.microsoft.com/office/drawing/2014/main" id="{5EA8DAF9-73CA-4350-BB16-62A0F0B27D92}"/>
              </a:ext>
            </a:extLst>
          </p:cNvPr>
          <p:cNvPicPr>
            <a:picLocks noChangeAspect="1"/>
          </p:cNvPicPr>
          <p:nvPr/>
        </p:nvPicPr>
        <p:blipFill>
          <a:blip r:embed="rId4"/>
          <a:stretch>
            <a:fillRect/>
          </a:stretch>
        </p:blipFill>
        <p:spPr>
          <a:xfrm>
            <a:off x="-864585" y="7650578"/>
            <a:ext cx="4583146" cy="6675022"/>
          </a:xfrm>
          <a:prstGeom prst="rect">
            <a:avLst/>
          </a:prstGeom>
        </p:spPr>
      </p:pic>
    </p:spTree>
    <p:extLst>
      <p:ext uri="{BB962C8B-B14F-4D97-AF65-F5344CB8AC3E}">
        <p14:creationId xmlns:p14="http://schemas.microsoft.com/office/powerpoint/2010/main" val="2587289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40000"/>
              <a:lumOff val="60000"/>
            </a:schemeClr>
          </a:fgClr>
          <a:bgClr>
            <a:schemeClr val="bg1"/>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52A5E7-0352-4494-AA5F-80C9D0340316}"/>
              </a:ext>
            </a:extLst>
          </p:cNvPr>
          <p:cNvPicPr>
            <a:picLocks noChangeAspect="1"/>
          </p:cNvPicPr>
          <p:nvPr/>
        </p:nvPicPr>
        <p:blipFill>
          <a:blip r:embed="rId2"/>
          <a:stretch>
            <a:fillRect/>
          </a:stretch>
        </p:blipFill>
        <p:spPr>
          <a:xfrm>
            <a:off x="137160" y="169129"/>
            <a:ext cx="11402377" cy="9948741"/>
          </a:xfrm>
          <a:prstGeom prst="rect">
            <a:avLst/>
          </a:prstGeom>
        </p:spPr>
      </p:pic>
      <p:sp>
        <p:nvSpPr>
          <p:cNvPr id="7" name="TextBox 6">
            <a:extLst>
              <a:ext uri="{FF2B5EF4-FFF2-40B4-BE49-F238E27FC236}">
                <a16:creationId xmlns:a16="http://schemas.microsoft.com/office/drawing/2014/main" id="{3F80D872-0B6C-45C5-9E4C-19A1B8225650}"/>
              </a:ext>
            </a:extLst>
          </p:cNvPr>
          <p:cNvSpPr txBox="1"/>
          <p:nvPr/>
        </p:nvSpPr>
        <p:spPr>
          <a:xfrm>
            <a:off x="11902440" y="518160"/>
            <a:ext cx="6263640" cy="6709529"/>
          </a:xfrm>
          <a:prstGeom prst="rect">
            <a:avLst/>
          </a:prstGeom>
          <a:noFill/>
        </p:spPr>
        <p:txBody>
          <a:bodyPr wrap="square" rtlCol="0">
            <a:spAutoFit/>
          </a:bodyPr>
          <a:lstStyle/>
          <a:p>
            <a:r>
              <a:rPr lang="en-US" sz="6000" b="1" dirty="0">
                <a:solidFill>
                  <a:schemeClr val="tx1"/>
                </a:solidFill>
                <a:effectLst/>
                <a:latin typeface="KoHo" panose="020B0604020202020204" charset="-34"/>
                <a:cs typeface="KoHo" panose="020B0604020202020204" charset="-34"/>
              </a:rPr>
              <a:t>Key Insights</a:t>
            </a:r>
            <a:endParaRPr lang="en-US" sz="6000" b="0" dirty="0">
              <a:solidFill>
                <a:schemeClr val="tx1"/>
              </a:solidFill>
              <a:effectLst/>
              <a:latin typeface="KoHo" panose="020B0604020202020204" charset="-34"/>
              <a:cs typeface="KoHo" panose="020B0604020202020204" charset="-34"/>
            </a:endParaRPr>
          </a:p>
          <a:p>
            <a:endParaRPr lang="en-US" sz="2000" dirty="0">
              <a:solidFill>
                <a:schemeClr val="tx1"/>
              </a:solidFill>
              <a:latin typeface="KoHo" panose="020B0604020202020204" charset="-34"/>
              <a:cs typeface="KoHo" panose="020B0604020202020204" charset="-34"/>
            </a:endParaRPr>
          </a:p>
          <a:p>
            <a:r>
              <a:rPr lang="en-US" sz="2400" b="0" dirty="0">
                <a:solidFill>
                  <a:schemeClr val="tx1"/>
                </a:solidFill>
                <a:effectLst/>
                <a:latin typeface="KoHo" panose="020B0604020202020204" charset="-34"/>
                <a:cs typeface="KoHo" panose="020B0604020202020204" charset="-34"/>
              </a:rPr>
              <a:t>Audience Preferences: Categories like </a:t>
            </a:r>
            <a:r>
              <a:rPr lang="en-US" sz="2400" b="0" i="1" dirty="0">
                <a:solidFill>
                  <a:schemeClr val="tx1"/>
                </a:solidFill>
                <a:effectLst/>
                <a:latin typeface="KoHo" panose="020B0604020202020204" charset="-34"/>
                <a:cs typeface="KoHo" panose="020B0604020202020204" charset="-34"/>
              </a:rPr>
              <a:t>Animation, Kids, Fantasy, Fitness, Historical, Talk-show </a:t>
            </a:r>
            <a:r>
              <a:rPr lang="en-US" sz="2400" b="0" dirty="0">
                <a:solidFill>
                  <a:schemeClr val="tx1"/>
                </a:solidFill>
                <a:effectLst/>
                <a:latin typeface="KoHo" panose="020B0604020202020204" charset="-34"/>
                <a:cs typeface="KoHo" panose="020B0604020202020204" charset="-34"/>
              </a:rPr>
              <a:t>and  </a:t>
            </a:r>
            <a:r>
              <a:rPr lang="en-US" sz="2400" i="1" dirty="0">
                <a:solidFill>
                  <a:schemeClr val="tx1"/>
                </a:solidFill>
                <a:effectLst/>
                <a:latin typeface="KoHo" panose="020B0604020202020204" charset="-34"/>
                <a:cs typeface="KoHo" panose="020B0604020202020204" charset="-34"/>
              </a:rPr>
              <a:t>Western</a:t>
            </a:r>
            <a:r>
              <a:rPr lang="en-US" sz="2400" b="1" i="1" dirty="0">
                <a:solidFill>
                  <a:schemeClr val="tx1"/>
                </a:solidFill>
                <a:effectLst/>
                <a:latin typeface="KoHo" panose="020B0604020202020204" charset="-34"/>
                <a:cs typeface="KoHo" panose="020B0604020202020204" charset="-34"/>
              </a:rPr>
              <a:t> </a:t>
            </a:r>
            <a:r>
              <a:rPr lang="en-US" sz="2400" b="0" dirty="0">
                <a:solidFill>
                  <a:schemeClr val="tx1"/>
                </a:solidFill>
                <a:effectLst/>
                <a:latin typeface="KoHo" panose="020B0604020202020204" charset="-34"/>
                <a:cs typeface="KoHo" panose="020B0604020202020204" charset="-34"/>
              </a:rPr>
              <a:t>are highly favored, while genres such as  </a:t>
            </a:r>
            <a:r>
              <a:rPr lang="en-US" sz="2400" b="0" i="1" dirty="0">
                <a:solidFill>
                  <a:schemeClr val="tx1"/>
                </a:solidFill>
                <a:effectLst/>
                <a:latin typeface="KoHo" panose="020B0604020202020204" charset="-34"/>
                <a:cs typeface="KoHo" panose="020B0604020202020204" charset="-34"/>
              </a:rPr>
              <a:t>Horror</a:t>
            </a:r>
            <a:r>
              <a:rPr lang="en-US" sz="2400" b="0" dirty="0">
                <a:solidFill>
                  <a:schemeClr val="tx1"/>
                </a:solidFill>
                <a:effectLst/>
                <a:latin typeface="KoHo" panose="020B0604020202020204" charset="-34"/>
                <a:cs typeface="KoHo" panose="020B0604020202020204" charset="-34"/>
              </a:rPr>
              <a:t> and </a:t>
            </a:r>
            <a:r>
              <a:rPr lang="en-US" sz="2400" b="0" i="1" dirty="0">
                <a:solidFill>
                  <a:schemeClr val="tx1"/>
                </a:solidFill>
                <a:effectLst/>
                <a:latin typeface="KoHo" panose="020B0604020202020204" charset="-34"/>
                <a:cs typeface="KoHo" panose="020B0604020202020204" charset="-34"/>
              </a:rPr>
              <a:t>Arts</a:t>
            </a:r>
            <a:r>
              <a:rPr lang="en-US" sz="2400" b="0" dirty="0">
                <a:solidFill>
                  <a:schemeClr val="tx1"/>
                </a:solidFill>
                <a:effectLst/>
                <a:latin typeface="KoHo" panose="020B0604020202020204" charset="-34"/>
                <a:cs typeface="KoHo" panose="020B0604020202020204" charset="-34"/>
              </a:rPr>
              <a:t>  often elicit critical feedback.</a:t>
            </a:r>
          </a:p>
          <a:p>
            <a:endParaRPr lang="en-US" sz="2400" b="0" dirty="0">
              <a:solidFill>
                <a:schemeClr val="tx1"/>
              </a:solidFill>
              <a:effectLst/>
              <a:latin typeface="KoHo" panose="020B0604020202020204" charset="-34"/>
              <a:cs typeface="KoHo" panose="020B0604020202020204" charset="-34"/>
            </a:endParaRPr>
          </a:p>
          <a:p>
            <a:r>
              <a:rPr lang="en-US" sz="2400" b="0" dirty="0">
                <a:solidFill>
                  <a:schemeClr val="tx1"/>
                </a:solidFill>
                <a:effectLst/>
                <a:latin typeface="KoHo" panose="020B0604020202020204" charset="-34"/>
                <a:cs typeface="KoHo" panose="020B0604020202020204" charset="-34"/>
              </a:rPr>
              <a:t>Balanced Reception: Categories with higher neutral sentiment, such as </a:t>
            </a:r>
            <a:r>
              <a:rPr lang="en-US" sz="2400" b="0" i="1" dirty="0">
                <a:solidFill>
                  <a:schemeClr val="tx1"/>
                </a:solidFill>
                <a:effectLst/>
                <a:latin typeface="KoHo" panose="020B0604020202020204" charset="-34"/>
                <a:cs typeface="KoHo" panose="020B0604020202020204" charset="-34"/>
              </a:rPr>
              <a:t> LGBTQ  </a:t>
            </a:r>
            <a:r>
              <a:rPr lang="en-US" sz="2400" b="0" dirty="0">
                <a:solidFill>
                  <a:schemeClr val="tx1"/>
                </a:solidFill>
                <a:effectLst/>
                <a:latin typeface="KoHo" panose="020B0604020202020204" charset="-34"/>
                <a:cs typeface="KoHo" panose="020B0604020202020204" charset="-34"/>
              </a:rPr>
              <a:t>and  </a:t>
            </a:r>
            <a:r>
              <a:rPr lang="en-US" sz="2400" b="0" i="1" dirty="0">
                <a:solidFill>
                  <a:schemeClr val="tx1"/>
                </a:solidFill>
                <a:effectLst/>
                <a:latin typeface="KoHo" panose="020B0604020202020204" charset="-34"/>
                <a:cs typeface="KoHo" panose="020B0604020202020204" charset="-34"/>
              </a:rPr>
              <a:t>Music  </a:t>
            </a:r>
            <a:r>
              <a:rPr lang="en-US" sz="2400" b="0" dirty="0">
                <a:solidFill>
                  <a:schemeClr val="tx1"/>
                </a:solidFill>
                <a:effectLst/>
                <a:latin typeface="KoHo" panose="020B0604020202020204" charset="-34"/>
                <a:cs typeface="KoHo" panose="020B0604020202020204" charset="-34"/>
              </a:rPr>
              <a:t>content, suggest these genres may attract more nuanced reactions.</a:t>
            </a:r>
          </a:p>
          <a:p>
            <a:br>
              <a:rPr lang="en-US" sz="2400" b="0" dirty="0">
                <a:solidFill>
                  <a:schemeClr val="tx1"/>
                </a:solidFill>
                <a:effectLst/>
                <a:latin typeface="KoHo" panose="020B0604020202020204" charset="-34"/>
                <a:cs typeface="KoHo" panose="020B0604020202020204" charset="-34"/>
              </a:rPr>
            </a:br>
            <a:r>
              <a:rPr lang="en-US" sz="2400" b="0" dirty="0">
                <a:solidFill>
                  <a:schemeClr val="tx1"/>
                </a:solidFill>
                <a:effectLst/>
                <a:latin typeface="KoHo" panose="020B0604020202020204" charset="-34"/>
                <a:cs typeface="KoHo" panose="020B0604020202020204" charset="-34"/>
              </a:rPr>
              <a:t>Categories with higher negative sentiment could benefit from analyzing specific user feedback to address shortcomings.</a:t>
            </a:r>
          </a:p>
          <a:p>
            <a:endParaRPr lang="en-US" dirty="0"/>
          </a:p>
        </p:txBody>
      </p:sp>
      <p:pic>
        <p:nvPicPr>
          <p:cNvPr id="8" name="Picture 7">
            <a:extLst>
              <a:ext uri="{FF2B5EF4-FFF2-40B4-BE49-F238E27FC236}">
                <a16:creationId xmlns:a16="http://schemas.microsoft.com/office/drawing/2014/main" id="{0F076C75-71D9-4D3B-A036-5D7F90A2817D}"/>
              </a:ext>
            </a:extLst>
          </p:cNvPr>
          <p:cNvPicPr>
            <a:picLocks noChangeAspect="1"/>
          </p:cNvPicPr>
          <p:nvPr/>
        </p:nvPicPr>
        <p:blipFill>
          <a:blip r:embed="rId3"/>
          <a:stretch>
            <a:fillRect/>
          </a:stretch>
        </p:blipFill>
        <p:spPr>
          <a:xfrm>
            <a:off x="16087880" y="7227688"/>
            <a:ext cx="1099932" cy="2890181"/>
          </a:xfrm>
          <a:prstGeom prst="rect">
            <a:avLst/>
          </a:prstGeom>
        </p:spPr>
      </p:pic>
    </p:spTree>
    <p:extLst>
      <p:ext uri="{BB962C8B-B14F-4D97-AF65-F5344CB8AC3E}">
        <p14:creationId xmlns:p14="http://schemas.microsoft.com/office/powerpoint/2010/main" val="3551065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40000"/>
              <a:lumOff val="60000"/>
            </a:schemeClr>
          </a:fgClr>
          <a:bgClr>
            <a:schemeClr val="bg1"/>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692BF0-20A2-4340-A803-B44E59E5A34A}"/>
              </a:ext>
            </a:extLst>
          </p:cNvPr>
          <p:cNvPicPr>
            <a:picLocks noChangeAspect="1"/>
          </p:cNvPicPr>
          <p:nvPr/>
        </p:nvPicPr>
        <p:blipFill>
          <a:blip r:embed="rId2"/>
          <a:stretch>
            <a:fillRect/>
          </a:stretch>
        </p:blipFill>
        <p:spPr>
          <a:xfrm>
            <a:off x="0" y="1161693"/>
            <a:ext cx="8894042" cy="7429686"/>
          </a:xfrm>
          <a:prstGeom prst="rect">
            <a:avLst/>
          </a:prstGeom>
        </p:spPr>
      </p:pic>
      <p:pic>
        <p:nvPicPr>
          <p:cNvPr id="6" name="Picture 5">
            <a:extLst>
              <a:ext uri="{FF2B5EF4-FFF2-40B4-BE49-F238E27FC236}">
                <a16:creationId xmlns:a16="http://schemas.microsoft.com/office/drawing/2014/main" id="{9E5FD53F-C783-4E54-A5BF-FB0D1D807EC9}"/>
              </a:ext>
            </a:extLst>
          </p:cNvPr>
          <p:cNvPicPr>
            <a:picLocks noChangeAspect="1"/>
          </p:cNvPicPr>
          <p:nvPr/>
        </p:nvPicPr>
        <p:blipFill>
          <a:blip r:embed="rId3">
            <a:duotone>
              <a:schemeClr val="bg2">
                <a:shade val="45000"/>
                <a:satMod val="135000"/>
              </a:schemeClr>
              <a:prstClr val="white"/>
            </a:duotone>
          </a:blip>
          <a:stretch>
            <a:fillRect/>
          </a:stretch>
        </p:blipFill>
        <p:spPr>
          <a:xfrm>
            <a:off x="-106680" y="-305328"/>
            <a:ext cx="18288000" cy="10363727"/>
          </a:xfrm>
          <a:prstGeom prst="rect">
            <a:avLst/>
          </a:prstGeom>
        </p:spPr>
      </p:pic>
      <p:sp>
        <p:nvSpPr>
          <p:cNvPr id="7" name="TextBox 6">
            <a:extLst>
              <a:ext uri="{FF2B5EF4-FFF2-40B4-BE49-F238E27FC236}">
                <a16:creationId xmlns:a16="http://schemas.microsoft.com/office/drawing/2014/main" id="{ABAC88E9-1E10-4EDD-8DF9-8E556FE269C9}"/>
              </a:ext>
            </a:extLst>
          </p:cNvPr>
          <p:cNvSpPr txBox="1"/>
          <p:nvPr/>
        </p:nvSpPr>
        <p:spPr>
          <a:xfrm>
            <a:off x="10012680" y="1695621"/>
            <a:ext cx="7406640" cy="5724644"/>
          </a:xfrm>
          <a:prstGeom prst="rect">
            <a:avLst/>
          </a:prstGeom>
          <a:noFill/>
        </p:spPr>
        <p:txBody>
          <a:bodyPr wrap="square" rtlCol="0">
            <a:spAutoFit/>
          </a:bodyPr>
          <a:lstStyle/>
          <a:p>
            <a:r>
              <a:rPr lang="en-US" sz="3200" b="0" dirty="0">
                <a:solidFill>
                  <a:schemeClr val="tx1"/>
                </a:solidFill>
                <a:effectLst/>
                <a:latin typeface="KoHo" panose="020B0604020202020204" charset="-34"/>
                <a:cs typeface="KoHo" panose="020B0604020202020204" charset="-34"/>
              </a:rPr>
              <a:t>Both free and paid content have the highest proportion of positive sentiment, showing that users generally express more favorable opinions, regardless of whether the content was free or paid.</a:t>
            </a:r>
          </a:p>
          <a:p>
            <a:br>
              <a:rPr lang="en-US" sz="3200" b="0" dirty="0">
                <a:solidFill>
                  <a:schemeClr val="tx1"/>
                </a:solidFill>
                <a:effectLst/>
                <a:latin typeface="KoHo" panose="020B0604020202020204" charset="-34"/>
                <a:cs typeface="KoHo" panose="020B0604020202020204" charset="-34"/>
              </a:rPr>
            </a:br>
            <a:br>
              <a:rPr lang="en-US" sz="3200" b="0" dirty="0">
                <a:solidFill>
                  <a:schemeClr val="tx1"/>
                </a:solidFill>
                <a:effectLst/>
                <a:latin typeface="KoHo" panose="020B0604020202020204" charset="-34"/>
                <a:cs typeface="KoHo" panose="020B0604020202020204" charset="-34"/>
              </a:rPr>
            </a:br>
            <a:r>
              <a:rPr lang="en-US" sz="3200" b="0" dirty="0">
                <a:solidFill>
                  <a:schemeClr val="tx1"/>
                </a:solidFill>
                <a:effectLst/>
                <a:latin typeface="KoHo" panose="020B0604020202020204" charset="-34"/>
                <a:cs typeface="KoHo" panose="020B0604020202020204" charset="-34"/>
              </a:rPr>
              <a:t>Negative sentiment appears slightly more in free content, possibly reflecting dissatisfaction with expectations when the content is free or of lower quality.</a:t>
            </a:r>
          </a:p>
          <a:p>
            <a:endParaRPr lang="en-US" dirty="0"/>
          </a:p>
        </p:txBody>
      </p:sp>
    </p:spTree>
    <p:extLst>
      <p:ext uri="{BB962C8B-B14F-4D97-AF65-F5344CB8AC3E}">
        <p14:creationId xmlns:p14="http://schemas.microsoft.com/office/powerpoint/2010/main" val="3115497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3000"/>
          </a:schemeClr>
        </a:solidFill>
        <a:effectLst/>
      </p:bgPr>
    </p:bg>
    <p:spTree>
      <p:nvGrpSpPr>
        <p:cNvPr id="1" name="Shape 157"/>
        <p:cNvGrpSpPr/>
        <p:nvPr/>
      </p:nvGrpSpPr>
      <p:grpSpPr>
        <a:xfrm>
          <a:off x="0" y="0"/>
          <a:ext cx="0" cy="0"/>
          <a:chOff x="0" y="0"/>
          <a:chExt cx="0" cy="0"/>
        </a:xfrm>
      </p:grpSpPr>
      <p:pic>
        <p:nvPicPr>
          <p:cNvPr id="158" name="Google Shape;158;p17"/>
          <p:cNvPicPr preferRelativeResize="0"/>
          <p:nvPr/>
        </p:nvPicPr>
        <p:blipFill>
          <a:blip r:embed="rId3">
            <a:alphaModFix/>
          </a:blip>
          <a:stretch>
            <a:fillRect/>
          </a:stretch>
        </p:blipFill>
        <p:spPr>
          <a:xfrm>
            <a:off x="11907950" y="1028700"/>
            <a:ext cx="5541850" cy="3867882"/>
          </a:xfrm>
          <a:prstGeom prst="rect">
            <a:avLst/>
          </a:prstGeom>
          <a:noFill/>
          <a:ln>
            <a:noFill/>
          </a:ln>
        </p:spPr>
      </p:pic>
      <p:sp>
        <p:nvSpPr>
          <p:cNvPr id="159" name="Google Shape;159;p17"/>
          <p:cNvSpPr txBox="1"/>
          <p:nvPr/>
        </p:nvSpPr>
        <p:spPr>
          <a:xfrm>
            <a:off x="1028700" y="5880101"/>
            <a:ext cx="15338700" cy="160031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2999" b="1" dirty="0">
                <a:solidFill>
                  <a:srgbClr val="1C1C1C"/>
                </a:solidFill>
                <a:latin typeface="KoHo" panose="020B0604020202020204" charset="-34"/>
                <a:cs typeface="KoHo" panose="020B0604020202020204" charset="-34"/>
                <a:sym typeface="Paytone One"/>
              </a:rPr>
              <a:t>Modelling</a:t>
            </a:r>
            <a:endParaRPr b="1" dirty="0">
              <a:latin typeface="KoHo" panose="020B0604020202020204" charset="-34"/>
              <a:cs typeface="KoHo" panose="020B0604020202020204" charset="-34"/>
            </a:endParaRPr>
          </a:p>
        </p:txBody>
      </p:sp>
      <p:pic>
        <p:nvPicPr>
          <p:cNvPr id="161" name="Google Shape;161;p17"/>
          <p:cNvPicPr preferRelativeResize="0"/>
          <p:nvPr/>
        </p:nvPicPr>
        <p:blipFill>
          <a:blip r:embed="rId4">
            <a:alphaModFix/>
          </a:blip>
          <a:stretch>
            <a:fillRect/>
          </a:stretch>
        </p:blipFill>
        <p:spPr>
          <a:xfrm>
            <a:off x="0" y="1056350"/>
            <a:ext cx="11907952" cy="3364187"/>
          </a:xfrm>
          <a:prstGeom prst="rect">
            <a:avLst/>
          </a:prstGeom>
          <a:noFill/>
          <a:ln>
            <a:noFill/>
          </a:ln>
        </p:spPr>
      </p:pic>
      <p:pic>
        <p:nvPicPr>
          <p:cNvPr id="2" name="Picture 1">
            <a:extLst>
              <a:ext uri="{FF2B5EF4-FFF2-40B4-BE49-F238E27FC236}">
                <a16:creationId xmlns:a16="http://schemas.microsoft.com/office/drawing/2014/main" id="{1BD35469-5A72-42D8-9134-F4675942F027}"/>
              </a:ext>
            </a:extLst>
          </p:cNvPr>
          <p:cNvPicPr>
            <a:picLocks noChangeAspect="1"/>
          </p:cNvPicPr>
          <p:nvPr/>
        </p:nvPicPr>
        <p:blipFill rotWithShape="1">
          <a:blip r:embed="rId5"/>
          <a:srcRect t="-37571"/>
          <a:stretch/>
        </p:blipFill>
        <p:spPr>
          <a:xfrm>
            <a:off x="11907950" y="519601"/>
            <a:ext cx="5456039" cy="39009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40000"/>
              <a:lumOff val="60000"/>
            </a:schemeClr>
          </a:fgClr>
          <a:bgClr>
            <a:schemeClr val="bg1"/>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A21B2F-C6F7-4ED1-B1C8-23B2D28ECC7B}"/>
              </a:ext>
            </a:extLst>
          </p:cNvPr>
          <p:cNvPicPr>
            <a:picLocks noChangeAspect="1"/>
          </p:cNvPicPr>
          <p:nvPr/>
        </p:nvPicPr>
        <p:blipFill>
          <a:blip r:embed="rId2"/>
          <a:stretch>
            <a:fillRect/>
          </a:stretch>
        </p:blipFill>
        <p:spPr>
          <a:xfrm>
            <a:off x="2788920" y="478701"/>
            <a:ext cx="11292840" cy="9329598"/>
          </a:xfrm>
          <a:prstGeom prst="rect">
            <a:avLst/>
          </a:prstGeom>
        </p:spPr>
      </p:pic>
      <p:pic>
        <p:nvPicPr>
          <p:cNvPr id="6" name="Picture 5">
            <a:extLst>
              <a:ext uri="{FF2B5EF4-FFF2-40B4-BE49-F238E27FC236}">
                <a16:creationId xmlns:a16="http://schemas.microsoft.com/office/drawing/2014/main" id="{8E0596BE-748B-46E2-89F7-73F6839A6078}"/>
              </a:ext>
            </a:extLst>
          </p:cNvPr>
          <p:cNvPicPr>
            <a:picLocks noChangeAspect="1"/>
          </p:cNvPicPr>
          <p:nvPr/>
        </p:nvPicPr>
        <p:blipFill>
          <a:blip r:embed="rId3">
            <a:duotone>
              <a:schemeClr val="bg2">
                <a:shade val="45000"/>
                <a:satMod val="135000"/>
              </a:schemeClr>
              <a:prstClr val="white"/>
            </a:duotone>
          </a:blip>
          <a:stretch>
            <a:fillRect/>
          </a:stretch>
        </p:blipFill>
        <p:spPr>
          <a:xfrm>
            <a:off x="-121920" y="0"/>
            <a:ext cx="18409920" cy="10287000"/>
          </a:xfrm>
          <a:prstGeom prst="rect">
            <a:avLst/>
          </a:prstGeom>
        </p:spPr>
      </p:pic>
    </p:spTree>
    <p:extLst>
      <p:ext uri="{BB962C8B-B14F-4D97-AF65-F5344CB8AC3E}">
        <p14:creationId xmlns:p14="http://schemas.microsoft.com/office/powerpoint/2010/main" val="1629196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1000"/>
          </a:schemeClr>
        </a:solidFill>
        <a:effectLst/>
      </p:bgPr>
    </p:bg>
    <p:spTree>
      <p:nvGrpSpPr>
        <p:cNvPr id="1" name="Shape 193"/>
        <p:cNvGrpSpPr/>
        <p:nvPr/>
      </p:nvGrpSpPr>
      <p:grpSpPr>
        <a:xfrm>
          <a:off x="0" y="0"/>
          <a:ext cx="0" cy="0"/>
          <a:chOff x="0" y="0"/>
          <a:chExt cx="0" cy="0"/>
        </a:xfrm>
      </p:grpSpPr>
      <p:sp>
        <p:nvSpPr>
          <p:cNvPr id="194" name="Google Shape;194;p19"/>
          <p:cNvSpPr txBox="1"/>
          <p:nvPr/>
        </p:nvSpPr>
        <p:spPr>
          <a:xfrm>
            <a:off x="3226278" y="1715423"/>
            <a:ext cx="14033022" cy="15388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Precision: Slight improvement (`0.97 to 0.98`) after under-sampling, meaning there were fewer false positives.</a:t>
            </a:r>
          </a:p>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Recall: Decreased slightly (`0.84 to 0.82`), indicating that the model captured slightly fewer true positives from the positive class after under-sampling.</a:t>
            </a:r>
          </a:p>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The under-sampling caused a small trade-off in recall but improved precision.</a:t>
            </a:r>
          </a:p>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F1-score: A minor drop (`0.90 to 0.89`), reflecting a balance between precision and recall.</a:t>
            </a:r>
          </a:p>
        </p:txBody>
      </p:sp>
      <p:sp>
        <p:nvSpPr>
          <p:cNvPr id="195" name="Google Shape;195;p19"/>
          <p:cNvSpPr txBox="1"/>
          <p:nvPr/>
        </p:nvSpPr>
        <p:spPr>
          <a:xfrm>
            <a:off x="3226278" y="1061373"/>
            <a:ext cx="5417415" cy="6154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999" b="1" dirty="0">
                <a:solidFill>
                  <a:srgbClr val="1C1C1C"/>
                </a:solidFill>
                <a:latin typeface="KoHo"/>
                <a:cs typeface="KoHo"/>
                <a:sym typeface="KoHo"/>
              </a:rPr>
              <a:t>Positive Class</a:t>
            </a:r>
            <a:endParaRPr dirty="0"/>
          </a:p>
        </p:txBody>
      </p:sp>
      <p:sp>
        <p:nvSpPr>
          <p:cNvPr id="196" name="Google Shape;196;p19"/>
          <p:cNvSpPr txBox="1"/>
          <p:nvPr/>
        </p:nvSpPr>
        <p:spPr>
          <a:xfrm>
            <a:off x="3241518" y="4029406"/>
            <a:ext cx="14033022" cy="123110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1C1C1C"/>
                </a:solidFill>
                <a:latin typeface="KoHo"/>
                <a:ea typeface="KoHo"/>
                <a:cs typeface="KoHo"/>
                <a:sym typeface="KoHo"/>
              </a:rPr>
              <a:t>- </a:t>
            </a:r>
            <a:r>
              <a:rPr lang="en-US" sz="2000" b="0" i="0" u="none" strike="noStrike" cap="none" dirty="0">
                <a:solidFill>
                  <a:srgbClr val="1C1C1C"/>
                </a:solidFill>
                <a:latin typeface="KoHo"/>
                <a:ea typeface="KoHo"/>
                <a:cs typeface="KoHo"/>
                <a:sym typeface="KoHo"/>
              </a:rPr>
              <a:t>Precision: Improved marginally (`0.43 to 0.46`).</a:t>
            </a:r>
          </a:p>
          <a:p>
            <a:pPr marL="0" marR="0" lvl="0" indent="0" algn="l" rtl="0">
              <a:lnSpc>
                <a:spcPct val="100000"/>
              </a:lnSpc>
              <a:spcBef>
                <a:spcPts val="0"/>
              </a:spcBef>
              <a:spcAft>
                <a:spcPts val="0"/>
              </a:spcAft>
              <a:buNone/>
            </a:pPr>
            <a:r>
              <a:rPr lang="en-US" sz="2000" b="0" i="0" u="none" strike="noStrike" cap="none" dirty="0">
                <a:solidFill>
                  <a:srgbClr val="1C1C1C"/>
                </a:solidFill>
                <a:latin typeface="KoHo"/>
                <a:ea typeface="KoHo"/>
                <a:cs typeface="KoHo"/>
                <a:sym typeface="KoHo"/>
              </a:rPr>
              <a:t>- Recall: Significant improvement (`0.67 to 0.79`), meaning the model performed better at identifying true neutral instances post-under-sampling, a significant boost in recall.</a:t>
            </a:r>
          </a:p>
          <a:p>
            <a:pPr marL="0" marR="0" lvl="0" indent="0" algn="l" rtl="0">
              <a:lnSpc>
                <a:spcPct val="100000"/>
              </a:lnSpc>
              <a:spcBef>
                <a:spcPts val="0"/>
              </a:spcBef>
              <a:spcAft>
                <a:spcPts val="0"/>
              </a:spcAft>
              <a:buNone/>
            </a:pPr>
            <a:r>
              <a:rPr lang="en-US" sz="2000" b="0" i="0" u="none" strike="noStrike" cap="none" dirty="0">
                <a:solidFill>
                  <a:srgbClr val="1C1C1C"/>
                </a:solidFill>
                <a:latin typeface="KoHo"/>
                <a:ea typeface="KoHo"/>
                <a:cs typeface="KoHo"/>
                <a:sym typeface="KoHo"/>
              </a:rPr>
              <a:t>- F1-score: Noticeable improvement (`0.53 to 0.58`).</a:t>
            </a:r>
            <a:endParaRPr lang="en-US" sz="2000" dirty="0"/>
          </a:p>
        </p:txBody>
      </p:sp>
      <p:sp>
        <p:nvSpPr>
          <p:cNvPr id="197" name="Google Shape;197;p19"/>
          <p:cNvSpPr txBox="1"/>
          <p:nvPr/>
        </p:nvSpPr>
        <p:spPr>
          <a:xfrm>
            <a:off x="3226278" y="3375356"/>
            <a:ext cx="5417415" cy="6154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999" b="1" dirty="0">
                <a:solidFill>
                  <a:srgbClr val="1C1C1C"/>
                </a:solidFill>
                <a:latin typeface="KoHo"/>
                <a:cs typeface="KoHo"/>
                <a:sym typeface="KoHo"/>
              </a:rPr>
              <a:t>Neutral Class</a:t>
            </a:r>
            <a:endParaRPr dirty="0"/>
          </a:p>
        </p:txBody>
      </p:sp>
      <p:sp>
        <p:nvSpPr>
          <p:cNvPr id="198" name="Google Shape;198;p19"/>
          <p:cNvSpPr txBox="1"/>
          <p:nvPr/>
        </p:nvSpPr>
        <p:spPr>
          <a:xfrm>
            <a:off x="3226278" y="6340806"/>
            <a:ext cx="14033022"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dirty="0"/>
              <a:t>- </a:t>
            </a:r>
            <a:r>
              <a:rPr lang="en-US" sz="2000" dirty="0">
                <a:latin typeface="KoHo" panose="020B0604020202020204" charset="-34"/>
                <a:cs typeface="KoHo" panose="020B0604020202020204" charset="-34"/>
              </a:rPr>
              <a:t>Precision: Slight improvement (0.63 to 0.64).</a:t>
            </a:r>
          </a:p>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 Recall: Improved significantly (from 0.81 to 0.88), showing better identification of true negatives after under-sampling.</a:t>
            </a:r>
          </a:p>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 F1-score: A minor improvement (from 0.71 to 0.74).</a:t>
            </a:r>
            <a:endParaRPr sz="2000" dirty="0">
              <a:latin typeface="KoHo" panose="020B0604020202020204" charset="-34"/>
              <a:cs typeface="KoHo" panose="020B0604020202020204" charset="-34"/>
            </a:endParaRPr>
          </a:p>
        </p:txBody>
      </p:sp>
      <p:sp>
        <p:nvSpPr>
          <p:cNvPr id="199" name="Google Shape;199;p19"/>
          <p:cNvSpPr txBox="1"/>
          <p:nvPr/>
        </p:nvSpPr>
        <p:spPr>
          <a:xfrm>
            <a:off x="3226278" y="5686756"/>
            <a:ext cx="5417415" cy="6154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999" b="1" dirty="0">
                <a:solidFill>
                  <a:srgbClr val="1C1C1C"/>
                </a:solidFill>
                <a:latin typeface="KoHo"/>
                <a:cs typeface="KoHo"/>
                <a:sym typeface="KoHo"/>
              </a:rPr>
              <a:t>Negative Class</a:t>
            </a:r>
            <a:endParaRPr dirty="0"/>
          </a:p>
        </p:txBody>
      </p:sp>
      <p:sp>
        <p:nvSpPr>
          <p:cNvPr id="200" name="Google Shape;200;p19"/>
          <p:cNvSpPr txBox="1"/>
          <p:nvPr/>
        </p:nvSpPr>
        <p:spPr>
          <a:xfrm>
            <a:off x="3135692" y="7504777"/>
            <a:ext cx="14033022" cy="18466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0" i="0" u="none" strike="noStrike" cap="none" dirty="0">
                <a:solidFill>
                  <a:srgbClr val="1C1C1C"/>
                </a:solidFill>
                <a:latin typeface="KoHo"/>
                <a:ea typeface="KoHo"/>
                <a:cs typeface="KoHo"/>
                <a:sym typeface="KoHo"/>
              </a:rPr>
              <a:t>Overall, while accuracy stayed constant at 82%, the macro average scores improved, highlighting better balance across classes. This is especially critical when addressing class imbalance.</a:t>
            </a:r>
          </a:p>
          <a:p>
            <a:pPr marL="0" marR="0" lvl="0" indent="0" algn="l" rtl="0">
              <a:lnSpc>
                <a:spcPct val="100000"/>
              </a:lnSpc>
              <a:spcBef>
                <a:spcPts val="0"/>
              </a:spcBef>
              <a:spcAft>
                <a:spcPts val="0"/>
              </a:spcAft>
              <a:buNone/>
            </a:pPr>
            <a:endParaRPr lang="en-US" sz="2400" b="0" i="0" u="none" strike="noStrike" cap="none" dirty="0">
              <a:solidFill>
                <a:srgbClr val="1C1C1C"/>
              </a:solidFill>
              <a:latin typeface="KoHo"/>
              <a:ea typeface="KoHo"/>
              <a:cs typeface="KoHo"/>
              <a:sym typeface="KoHo"/>
            </a:endParaRPr>
          </a:p>
          <a:p>
            <a:pPr marL="0" marR="0" lvl="0" indent="0" algn="l" rtl="0">
              <a:lnSpc>
                <a:spcPct val="100000"/>
              </a:lnSpc>
              <a:spcBef>
                <a:spcPts val="0"/>
              </a:spcBef>
              <a:spcAft>
                <a:spcPts val="0"/>
              </a:spcAft>
              <a:buNone/>
            </a:pPr>
            <a:r>
              <a:rPr lang="en-US" sz="2400" b="0" i="0" u="none" strike="noStrike" cap="none" dirty="0">
                <a:solidFill>
                  <a:srgbClr val="1C1C1C"/>
                </a:solidFill>
                <a:latin typeface="KoHo"/>
                <a:ea typeface="KoHo"/>
                <a:cs typeface="KoHo"/>
                <a:sym typeface="KoHo"/>
              </a:rPr>
              <a:t>The under-sampling approach prioritized fairness across classes, slightly sacrificing performance on the majority class (positive) for better results in the minority classes.</a:t>
            </a:r>
            <a:endParaRPr sz="2400" dirty="0"/>
          </a:p>
        </p:txBody>
      </p:sp>
      <p:cxnSp>
        <p:nvCxnSpPr>
          <p:cNvPr id="202" name="Google Shape;202;p19"/>
          <p:cNvCxnSpPr/>
          <p:nvPr/>
        </p:nvCxnSpPr>
        <p:spPr>
          <a:xfrm>
            <a:off x="3226278" y="3375356"/>
            <a:ext cx="13851850" cy="0"/>
          </a:xfrm>
          <a:prstGeom prst="straightConnector1">
            <a:avLst/>
          </a:prstGeom>
          <a:noFill/>
          <a:ln w="19050" cap="flat" cmpd="sng">
            <a:solidFill>
              <a:srgbClr val="000000"/>
            </a:solidFill>
            <a:prstDash val="solid"/>
            <a:round/>
            <a:headEnd type="none" w="sm" len="sm"/>
            <a:tailEnd type="none" w="sm" len="sm"/>
          </a:ln>
        </p:spPr>
      </p:cxnSp>
      <p:cxnSp>
        <p:nvCxnSpPr>
          <p:cNvPr id="203" name="Google Shape;203;p19"/>
          <p:cNvCxnSpPr/>
          <p:nvPr/>
        </p:nvCxnSpPr>
        <p:spPr>
          <a:xfrm>
            <a:off x="3226278" y="5485529"/>
            <a:ext cx="13851850" cy="0"/>
          </a:xfrm>
          <a:prstGeom prst="straightConnector1">
            <a:avLst/>
          </a:prstGeom>
          <a:noFill/>
          <a:ln w="19050" cap="flat" cmpd="sng">
            <a:solidFill>
              <a:srgbClr val="000000"/>
            </a:solidFill>
            <a:prstDash val="solid"/>
            <a:round/>
            <a:headEnd type="none" w="sm" len="sm"/>
            <a:tailEnd type="none" w="sm" len="sm"/>
          </a:ln>
        </p:spPr>
      </p:cxnSp>
      <p:cxnSp>
        <p:nvCxnSpPr>
          <p:cNvPr id="204" name="Google Shape;204;p19"/>
          <p:cNvCxnSpPr/>
          <p:nvPr/>
        </p:nvCxnSpPr>
        <p:spPr>
          <a:xfrm>
            <a:off x="3226278" y="7504777"/>
            <a:ext cx="13851850" cy="0"/>
          </a:xfrm>
          <a:prstGeom prst="straightConnector1">
            <a:avLst/>
          </a:prstGeom>
          <a:noFill/>
          <a:ln w="19050" cap="flat" cmpd="sng">
            <a:solidFill>
              <a:srgbClr val="000000"/>
            </a:solidFill>
            <a:prstDash val="solid"/>
            <a:round/>
            <a:headEnd type="none" w="sm" len="sm"/>
            <a:tailEnd type="none" w="sm" len="sm"/>
          </a:ln>
        </p:spPr>
      </p:cxnSp>
      <p:pic>
        <p:nvPicPr>
          <p:cNvPr id="205" name="Google Shape;205;p19"/>
          <p:cNvPicPr preferRelativeResize="0"/>
          <p:nvPr/>
        </p:nvPicPr>
        <p:blipFill>
          <a:blip r:embed="rId3">
            <a:alphaModFix/>
          </a:blip>
          <a:stretch>
            <a:fillRect/>
          </a:stretch>
        </p:blipFill>
        <p:spPr>
          <a:xfrm>
            <a:off x="1239902" y="1180426"/>
            <a:ext cx="1367124" cy="1630560"/>
          </a:xfrm>
          <a:prstGeom prst="rect">
            <a:avLst/>
          </a:prstGeom>
          <a:noFill/>
          <a:ln>
            <a:noFill/>
          </a:ln>
        </p:spPr>
      </p:pic>
      <p:pic>
        <p:nvPicPr>
          <p:cNvPr id="206" name="Google Shape;206;p19"/>
          <p:cNvPicPr preferRelativeResize="0"/>
          <p:nvPr/>
        </p:nvPicPr>
        <p:blipFill>
          <a:blip r:embed="rId3">
            <a:alphaModFix/>
          </a:blip>
          <a:stretch>
            <a:fillRect/>
          </a:stretch>
        </p:blipFill>
        <p:spPr>
          <a:xfrm>
            <a:off x="1239902" y="3495601"/>
            <a:ext cx="1367124" cy="1630560"/>
          </a:xfrm>
          <a:prstGeom prst="rect">
            <a:avLst/>
          </a:prstGeom>
          <a:noFill/>
          <a:ln>
            <a:noFill/>
          </a:ln>
        </p:spPr>
      </p:pic>
      <p:pic>
        <p:nvPicPr>
          <p:cNvPr id="207" name="Google Shape;207;p19"/>
          <p:cNvPicPr preferRelativeResize="0"/>
          <p:nvPr/>
        </p:nvPicPr>
        <p:blipFill>
          <a:blip r:embed="rId3">
            <a:alphaModFix/>
          </a:blip>
          <a:stretch>
            <a:fillRect/>
          </a:stretch>
        </p:blipFill>
        <p:spPr>
          <a:xfrm>
            <a:off x="1184950" y="5633576"/>
            <a:ext cx="1367124" cy="1630560"/>
          </a:xfrm>
          <a:prstGeom prst="rect">
            <a:avLst/>
          </a:prstGeom>
          <a:noFill/>
          <a:ln>
            <a:noFill/>
          </a:ln>
        </p:spPr>
      </p:pic>
      <p:pic>
        <p:nvPicPr>
          <p:cNvPr id="208" name="Google Shape;208;p19"/>
          <p:cNvPicPr preferRelativeResize="0"/>
          <p:nvPr/>
        </p:nvPicPr>
        <p:blipFill>
          <a:blip r:embed="rId3">
            <a:alphaModFix/>
          </a:blip>
          <a:stretch>
            <a:fillRect/>
          </a:stretch>
        </p:blipFill>
        <p:spPr>
          <a:xfrm>
            <a:off x="1184950" y="7800704"/>
            <a:ext cx="1367124" cy="1630560"/>
          </a:xfrm>
          <a:prstGeom prst="rect">
            <a:avLst/>
          </a:prstGeom>
          <a:noFill/>
          <a:ln>
            <a:noFill/>
          </a:ln>
        </p:spPr>
      </p:pic>
      <p:pic>
        <p:nvPicPr>
          <p:cNvPr id="2" name="Picture 1">
            <a:extLst>
              <a:ext uri="{FF2B5EF4-FFF2-40B4-BE49-F238E27FC236}">
                <a16:creationId xmlns:a16="http://schemas.microsoft.com/office/drawing/2014/main" id="{F6DEF458-60FE-4C2A-A6DD-DD4341911937}"/>
              </a:ext>
            </a:extLst>
          </p:cNvPr>
          <p:cNvPicPr>
            <a:picLocks noChangeAspect="1"/>
          </p:cNvPicPr>
          <p:nvPr/>
        </p:nvPicPr>
        <p:blipFill>
          <a:blip r:embed="rId4">
            <a:alphaModFix amt="15000"/>
          </a:blip>
          <a:stretch>
            <a:fillRect/>
          </a:stretch>
        </p:blipFill>
        <p:spPr>
          <a:xfrm>
            <a:off x="892337" y="8482680"/>
            <a:ext cx="16777646" cy="173751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1000"/>
          </a:schemeClr>
        </a:solidFill>
        <a:effectLst/>
      </p:bgPr>
    </p:bg>
    <p:spTree>
      <p:nvGrpSpPr>
        <p:cNvPr id="1" name="Shape 193"/>
        <p:cNvGrpSpPr/>
        <p:nvPr/>
      </p:nvGrpSpPr>
      <p:grpSpPr>
        <a:xfrm>
          <a:off x="0" y="0"/>
          <a:ext cx="0" cy="0"/>
          <a:chOff x="0" y="0"/>
          <a:chExt cx="0" cy="0"/>
        </a:xfrm>
      </p:grpSpPr>
      <p:sp>
        <p:nvSpPr>
          <p:cNvPr id="194" name="Google Shape;194;p19"/>
          <p:cNvSpPr txBox="1"/>
          <p:nvPr/>
        </p:nvSpPr>
        <p:spPr>
          <a:xfrm>
            <a:off x="3226278" y="1715423"/>
            <a:ext cx="14033022"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 Perform in-depth analysis of positive sentiment drivers (e.g., genres, titles, or features) to maintain and replicate customer satisfaction strategies.</a:t>
            </a:r>
          </a:p>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 Use topic modeling or keyword extraction to gain actionable insights into areas driving each sentiment class.</a:t>
            </a:r>
          </a:p>
        </p:txBody>
      </p:sp>
      <p:sp>
        <p:nvSpPr>
          <p:cNvPr id="195" name="Google Shape;195;p19"/>
          <p:cNvSpPr txBox="1"/>
          <p:nvPr/>
        </p:nvSpPr>
        <p:spPr>
          <a:xfrm>
            <a:off x="3226278" y="1061372"/>
            <a:ext cx="12257562" cy="707886"/>
          </a:xfrm>
          <a:prstGeom prst="rect">
            <a:avLst/>
          </a:prstGeom>
          <a:noFill/>
          <a:ln>
            <a:noFill/>
          </a:ln>
        </p:spPr>
        <p:txBody>
          <a:bodyPr spcFirstLastPara="1" wrap="square" lIns="0" tIns="0" rIns="0" bIns="0" anchor="t" anchorCtr="0">
            <a:spAutoFit/>
          </a:bodyPr>
          <a:lstStyle/>
          <a:p>
            <a:r>
              <a:rPr lang="en-US" sz="3200" b="1" dirty="0">
                <a:solidFill>
                  <a:schemeClr val="tx1"/>
                </a:solidFill>
                <a:effectLst/>
                <a:latin typeface="KoHo" panose="020B0604020202020204" charset="-34"/>
                <a:cs typeface="KoHo" panose="020B0604020202020204" charset="-34"/>
              </a:rPr>
              <a:t>Deep Dive into Positive Sentiment Drivers</a:t>
            </a:r>
            <a:endParaRPr lang="en-US" sz="3200" b="0" dirty="0">
              <a:solidFill>
                <a:schemeClr val="tx1"/>
              </a:solidFill>
              <a:effectLst/>
              <a:latin typeface="KoHo" panose="020B0604020202020204" charset="-34"/>
              <a:cs typeface="KoHo" panose="020B0604020202020204" charset="-34"/>
            </a:endParaRPr>
          </a:p>
          <a:p>
            <a:pPr marL="0" marR="0" lvl="0" indent="0" algn="l" rtl="0">
              <a:lnSpc>
                <a:spcPct val="100000"/>
              </a:lnSpc>
              <a:spcBef>
                <a:spcPts val="0"/>
              </a:spcBef>
              <a:spcAft>
                <a:spcPts val="0"/>
              </a:spcAft>
              <a:buNone/>
            </a:pPr>
            <a:endParaRPr dirty="0"/>
          </a:p>
        </p:txBody>
      </p:sp>
      <p:sp>
        <p:nvSpPr>
          <p:cNvPr id="196" name="Google Shape;196;p19"/>
          <p:cNvSpPr txBox="1"/>
          <p:nvPr/>
        </p:nvSpPr>
        <p:spPr>
          <a:xfrm>
            <a:off x="3241518" y="4029406"/>
            <a:ext cx="14033022" cy="8309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1C1C1C"/>
                </a:solidFill>
                <a:latin typeface="KoHo"/>
                <a:ea typeface="KoHo"/>
                <a:cs typeface="KoHo"/>
                <a:sym typeface="KoHo"/>
              </a:rPr>
              <a:t>- Identify and prioritize recurring themes or features associated with negative feedback (e.g. story lines, character development </a:t>
            </a:r>
            <a:r>
              <a:rPr lang="en-US" sz="1800" b="0" i="0" u="none" strike="noStrike" cap="none" dirty="0" err="1">
                <a:solidFill>
                  <a:srgbClr val="1C1C1C"/>
                </a:solidFill>
                <a:latin typeface="KoHo"/>
                <a:ea typeface="KoHo"/>
                <a:cs typeface="KoHo"/>
                <a:sym typeface="KoHo"/>
              </a:rPr>
              <a:t>etc</a:t>
            </a:r>
            <a:r>
              <a:rPr lang="en-US" sz="1800" b="0" i="0" u="none" strike="noStrike" cap="none" dirty="0">
                <a:solidFill>
                  <a:srgbClr val="1C1C1C"/>
                </a:solidFill>
                <a:latin typeface="KoHo"/>
                <a:ea typeface="KoHo"/>
                <a:cs typeface="KoHo"/>
                <a:sym typeface="KoHo"/>
              </a:rPr>
              <a:t>, streaming quality </a:t>
            </a:r>
            <a:r>
              <a:rPr lang="en-US" sz="1800" b="0" i="0" u="none" strike="noStrike" cap="none" dirty="0" err="1">
                <a:solidFill>
                  <a:srgbClr val="1C1C1C"/>
                </a:solidFill>
                <a:latin typeface="KoHo"/>
                <a:ea typeface="KoHo"/>
                <a:cs typeface="KoHo"/>
                <a:sym typeface="KoHo"/>
              </a:rPr>
              <a:t>etc</a:t>
            </a:r>
            <a:r>
              <a:rPr lang="en-US" sz="1800" b="0" i="0" u="none" strike="noStrike" cap="none" dirty="0">
                <a:solidFill>
                  <a:srgbClr val="1C1C1C"/>
                </a:solidFill>
                <a:latin typeface="KoHo"/>
                <a:ea typeface="KoHo"/>
                <a:cs typeface="KoHo"/>
                <a:sym typeface="KoHo"/>
              </a:rPr>
              <a:t> ).</a:t>
            </a:r>
          </a:p>
          <a:p>
            <a:pPr marL="0" marR="0" lvl="0" indent="0" algn="l" rtl="0">
              <a:lnSpc>
                <a:spcPct val="100000"/>
              </a:lnSpc>
              <a:spcBef>
                <a:spcPts val="0"/>
              </a:spcBef>
              <a:spcAft>
                <a:spcPts val="0"/>
              </a:spcAft>
              <a:buNone/>
            </a:pPr>
            <a:r>
              <a:rPr lang="en-US" sz="1800" b="0" i="0" u="none" strike="noStrike" cap="none" dirty="0">
                <a:solidFill>
                  <a:srgbClr val="1C1C1C"/>
                </a:solidFill>
                <a:latin typeface="KoHo"/>
                <a:ea typeface="KoHo"/>
                <a:cs typeface="KoHo"/>
                <a:sym typeface="KoHo"/>
              </a:rPr>
              <a:t>- Work with relevant teams to address these pain points (e.g., refreshing the content library or improving user interface).</a:t>
            </a:r>
            <a:endParaRPr lang="en-US" sz="2000" dirty="0"/>
          </a:p>
        </p:txBody>
      </p:sp>
      <p:sp>
        <p:nvSpPr>
          <p:cNvPr id="197" name="Google Shape;197;p19"/>
          <p:cNvSpPr txBox="1"/>
          <p:nvPr/>
        </p:nvSpPr>
        <p:spPr>
          <a:xfrm>
            <a:off x="3226278" y="3375356"/>
            <a:ext cx="12257562"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dirty="0">
                <a:solidFill>
                  <a:srgbClr val="1C1C1C"/>
                </a:solidFill>
                <a:latin typeface="KoHo"/>
                <a:cs typeface="KoHo"/>
                <a:sym typeface="KoHo"/>
              </a:rPr>
              <a:t>Actionable Insights from Negative Sentiment</a:t>
            </a:r>
            <a:endParaRPr sz="3200" dirty="0"/>
          </a:p>
        </p:txBody>
      </p:sp>
      <p:sp>
        <p:nvSpPr>
          <p:cNvPr id="198" name="Google Shape;198;p19"/>
          <p:cNvSpPr txBox="1"/>
          <p:nvPr/>
        </p:nvSpPr>
        <p:spPr>
          <a:xfrm>
            <a:off x="3226278" y="6340806"/>
            <a:ext cx="14033022"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 Incorporate sentiment insights into recommendation models to suggest content based on user sentiment patterns.</a:t>
            </a:r>
          </a:p>
          <a:p>
            <a:pPr marL="0" marR="0" lvl="0" indent="0" algn="l" rtl="0">
              <a:lnSpc>
                <a:spcPct val="100000"/>
              </a:lnSpc>
              <a:spcBef>
                <a:spcPts val="0"/>
              </a:spcBef>
              <a:spcAft>
                <a:spcPts val="0"/>
              </a:spcAft>
              <a:buNone/>
            </a:pPr>
            <a:r>
              <a:rPr lang="en-US" sz="2000" dirty="0">
                <a:latin typeface="KoHo" panose="020B0604020202020204" charset="-34"/>
                <a:cs typeface="KoHo" panose="020B0604020202020204" charset="-34"/>
              </a:rPr>
              <a:t>- Optimize for scenarios where users with negative feedback can receive tailored suggestions to re-engage them with the platform.</a:t>
            </a:r>
            <a:endParaRPr sz="2000" dirty="0">
              <a:latin typeface="KoHo" panose="020B0604020202020204" charset="-34"/>
              <a:cs typeface="KoHo" panose="020B0604020202020204" charset="-34"/>
            </a:endParaRPr>
          </a:p>
        </p:txBody>
      </p:sp>
      <p:sp>
        <p:nvSpPr>
          <p:cNvPr id="199" name="Google Shape;199;p19"/>
          <p:cNvSpPr txBox="1"/>
          <p:nvPr/>
        </p:nvSpPr>
        <p:spPr>
          <a:xfrm>
            <a:off x="3226278" y="5686756"/>
            <a:ext cx="1385185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dirty="0">
                <a:solidFill>
                  <a:srgbClr val="1C1C1C"/>
                </a:solidFill>
                <a:latin typeface="KoHo"/>
                <a:cs typeface="KoHo"/>
                <a:sym typeface="KoHo"/>
              </a:rPr>
              <a:t>Boost Personalization Algorithms</a:t>
            </a:r>
            <a:endParaRPr sz="3200" dirty="0"/>
          </a:p>
        </p:txBody>
      </p:sp>
      <p:sp>
        <p:nvSpPr>
          <p:cNvPr id="200" name="Google Shape;200;p19"/>
          <p:cNvSpPr txBox="1"/>
          <p:nvPr/>
        </p:nvSpPr>
        <p:spPr>
          <a:xfrm>
            <a:off x="3135692" y="7554482"/>
            <a:ext cx="14033022"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1C1C1C"/>
                </a:solidFill>
                <a:latin typeface="KoHo"/>
                <a:ea typeface="KoHo"/>
                <a:cs typeface="KoHo"/>
                <a:sym typeface="KoHo"/>
              </a:rPr>
              <a:t>Visualize Sentiment Trends</a:t>
            </a:r>
            <a:endParaRPr sz="3200" b="1" dirty="0"/>
          </a:p>
        </p:txBody>
      </p:sp>
      <p:cxnSp>
        <p:nvCxnSpPr>
          <p:cNvPr id="202" name="Google Shape;202;p19"/>
          <p:cNvCxnSpPr/>
          <p:nvPr/>
        </p:nvCxnSpPr>
        <p:spPr>
          <a:xfrm>
            <a:off x="3241518" y="3055316"/>
            <a:ext cx="13851850" cy="0"/>
          </a:xfrm>
          <a:prstGeom prst="straightConnector1">
            <a:avLst/>
          </a:prstGeom>
          <a:noFill/>
          <a:ln w="19050" cap="flat" cmpd="sng">
            <a:solidFill>
              <a:srgbClr val="000000"/>
            </a:solidFill>
            <a:prstDash val="solid"/>
            <a:round/>
            <a:headEnd type="none" w="sm" len="sm"/>
            <a:tailEnd type="none" w="sm" len="sm"/>
          </a:ln>
        </p:spPr>
      </p:cxnSp>
      <p:cxnSp>
        <p:nvCxnSpPr>
          <p:cNvPr id="203" name="Google Shape;203;p19"/>
          <p:cNvCxnSpPr/>
          <p:nvPr/>
        </p:nvCxnSpPr>
        <p:spPr>
          <a:xfrm>
            <a:off x="3226278" y="5485529"/>
            <a:ext cx="13851850" cy="0"/>
          </a:xfrm>
          <a:prstGeom prst="straightConnector1">
            <a:avLst/>
          </a:prstGeom>
          <a:noFill/>
          <a:ln w="19050" cap="flat" cmpd="sng">
            <a:solidFill>
              <a:srgbClr val="000000"/>
            </a:solidFill>
            <a:prstDash val="solid"/>
            <a:round/>
            <a:headEnd type="none" w="sm" len="sm"/>
            <a:tailEnd type="none" w="sm" len="sm"/>
          </a:ln>
        </p:spPr>
      </p:cxnSp>
      <p:cxnSp>
        <p:nvCxnSpPr>
          <p:cNvPr id="204" name="Google Shape;204;p19"/>
          <p:cNvCxnSpPr/>
          <p:nvPr/>
        </p:nvCxnSpPr>
        <p:spPr>
          <a:xfrm>
            <a:off x="3241518" y="7314377"/>
            <a:ext cx="13851850" cy="0"/>
          </a:xfrm>
          <a:prstGeom prst="straightConnector1">
            <a:avLst/>
          </a:prstGeom>
          <a:noFill/>
          <a:ln w="19050" cap="flat" cmpd="sng">
            <a:solidFill>
              <a:srgbClr val="000000"/>
            </a:solidFill>
            <a:prstDash val="solid"/>
            <a:round/>
            <a:headEnd type="none" w="sm" len="sm"/>
            <a:tailEnd type="none" w="sm" len="sm"/>
          </a:ln>
        </p:spPr>
      </p:cxnSp>
      <p:pic>
        <p:nvPicPr>
          <p:cNvPr id="205" name="Google Shape;205;p19"/>
          <p:cNvPicPr preferRelativeResize="0"/>
          <p:nvPr/>
        </p:nvPicPr>
        <p:blipFill>
          <a:blip r:embed="rId3">
            <a:alphaModFix/>
          </a:blip>
          <a:stretch>
            <a:fillRect/>
          </a:stretch>
        </p:blipFill>
        <p:spPr>
          <a:xfrm>
            <a:off x="1239902" y="1180426"/>
            <a:ext cx="1312172" cy="1334174"/>
          </a:xfrm>
          <a:prstGeom prst="rect">
            <a:avLst/>
          </a:prstGeom>
          <a:noFill/>
          <a:ln>
            <a:noFill/>
          </a:ln>
        </p:spPr>
      </p:pic>
      <p:pic>
        <p:nvPicPr>
          <p:cNvPr id="206" name="Google Shape;206;p19"/>
          <p:cNvPicPr preferRelativeResize="0"/>
          <p:nvPr/>
        </p:nvPicPr>
        <p:blipFill>
          <a:blip r:embed="rId3">
            <a:alphaModFix/>
          </a:blip>
          <a:stretch>
            <a:fillRect/>
          </a:stretch>
        </p:blipFill>
        <p:spPr>
          <a:xfrm>
            <a:off x="1191944" y="3302352"/>
            <a:ext cx="1360130" cy="1662674"/>
          </a:xfrm>
          <a:prstGeom prst="rect">
            <a:avLst/>
          </a:prstGeom>
          <a:noFill/>
          <a:ln>
            <a:noFill/>
          </a:ln>
        </p:spPr>
      </p:pic>
      <p:pic>
        <p:nvPicPr>
          <p:cNvPr id="207" name="Google Shape;207;p19"/>
          <p:cNvPicPr preferRelativeResize="0"/>
          <p:nvPr/>
        </p:nvPicPr>
        <p:blipFill>
          <a:blip r:embed="rId3">
            <a:alphaModFix/>
          </a:blip>
          <a:stretch>
            <a:fillRect/>
          </a:stretch>
        </p:blipFill>
        <p:spPr>
          <a:xfrm>
            <a:off x="1184950" y="5633576"/>
            <a:ext cx="1367124" cy="1630560"/>
          </a:xfrm>
          <a:prstGeom prst="rect">
            <a:avLst/>
          </a:prstGeom>
          <a:noFill/>
          <a:ln>
            <a:noFill/>
          </a:ln>
        </p:spPr>
      </p:pic>
      <p:pic>
        <p:nvPicPr>
          <p:cNvPr id="208" name="Google Shape;208;p19"/>
          <p:cNvPicPr preferRelativeResize="0"/>
          <p:nvPr/>
        </p:nvPicPr>
        <p:blipFill>
          <a:blip r:embed="rId3">
            <a:alphaModFix/>
          </a:blip>
          <a:stretch>
            <a:fillRect/>
          </a:stretch>
        </p:blipFill>
        <p:spPr>
          <a:xfrm>
            <a:off x="1184950" y="7800704"/>
            <a:ext cx="1367124" cy="1630560"/>
          </a:xfrm>
          <a:prstGeom prst="rect">
            <a:avLst/>
          </a:prstGeom>
          <a:noFill/>
          <a:ln>
            <a:noFill/>
          </a:ln>
        </p:spPr>
      </p:pic>
      <p:sp>
        <p:nvSpPr>
          <p:cNvPr id="2" name="TextBox 1">
            <a:extLst>
              <a:ext uri="{FF2B5EF4-FFF2-40B4-BE49-F238E27FC236}">
                <a16:creationId xmlns:a16="http://schemas.microsoft.com/office/drawing/2014/main" id="{375C95F8-0F32-40A3-8F24-8DFD4674DDEF}"/>
              </a:ext>
            </a:extLst>
          </p:cNvPr>
          <p:cNvSpPr txBox="1"/>
          <p:nvPr/>
        </p:nvSpPr>
        <p:spPr>
          <a:xfrm>
            <a:off x="3135692" y="8427720"/>
            <a:ext cx="13704508" cy="707886"/>
          </a:xfrm>
          <a:prstGeom prst="rect">
            <a:avLst/>
          </a:prstGeom>
          <a:noFill/>
        </p:spPr>
        <p:txBody>
          <a:bodyPr wrap="square" rtlCol="0">
            <a:spAutoFit/>
          </a:bodyPr>
          <a:lstStyle/>
          <a:p>
            <a:r>
              <a:rPr lang="en-US" dirty="0"/>
              <a:t>- </a:t>
            </a:r>
            <a:r>
              <a:rPr lang="en-US" sz="2000" dirty="0">
                <a:latin typeface="KoHo" panose="020B0604020202020204" charset="-34"/>
                <a:cs typeface="KoHo" panose="020B0604020202020204" charset="-34"/>
              </a:rPr>
              <a:t>Develop dashboards to track sentiment trends over time, segmented by categories (e.g., genres, regions, or demographics), enabling data-driven decision-making.</a:t>
            </a:r>
          </a:p>
        </p:txBody>
      </p:sp>
    </p:spTree>
    <p:extLst>
      <p:ext uri="{BB962C8B-B14F-4D97-AF65-F5344CB8AC3E}">
        <p14:creationId xmlns:p14="http://schemas.microsoft.com/office/powerpoint/2010/main" val="2031586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1000"/>
          </a:schemeClr>
        </a:solidFill>
        <a:effectLst/>
      </p:bgPr>
    </p:bg>
    <p:spTree>
      <p:nvGrpSpPr>
        <p:cNvPr id="1" name="Shape 463"/>
        <p:cNvGrpSpPr/>
        <p:nvPr/>
      </p:nvGrpSpPr>
      <p:grpSpPr>
        <a:xfrm>
          <a:off x="0" y="0"/>
          <a:ext cx="0" cy="0"/>
          <a:chOff x="0" y="0"/>
          <a:chExt cx="0" cy="0"/>
        </a:xfrm>
      </p:grpSpPr>
      <p:sp>
        <p:nvSpPr>
          <p:cNvPr id="464" name="Google Shape;464;p29"/>
          <p:cNvSpPr txBox="1"/>
          <p:nvPr/>
        </p:nvSpPr>
        <p:spPr>
          <a:xfrm>
            <a:off x="8563559" y="3098800"/>
            <a:ext cx="8695741" cy="441325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0" b="0" i="0" u="none" strike="noStrike" cap="none" dirty="0">
                <a:solidFill>
                  <a:srgbClr val="1C1C1C"/>
                </a:solidFill>
                <a:latin typeface="Paytone One"/>
                <a:ea typeface="Paytone One"/>
                <a:cs typeface="Paytone One"/>
                <a:sym typeface="Paytone One"/>
              </a:rPr>
              <a:t>THANK</a:t>
            </a:r>
            <a:endParaRPr dirty="0"/>
          </a:p>
          <a:p>
            <a:pPr marL="0" marR="0" lvl="0" indent="0" algn="l" rtl="0">
              <a:lnSpc>
                <a:spcPct val="100000"/>
              </a:lnSpc>
              <a:spcBef>
                <a:spcPts val="0"/>
              </a:spcBef>
              <a:spcAft>
                <a:spcPts val="0"/>
              </a:spcAft>
              <a:buNone/>
            </a:pPr>
            <a:r>
              <a:rPr lang="en-US" sz="17000" b="0" i="0" u="none" strike="noStrike" cap="none" dirty="0">
                <a:solidFill>
                  <a:srgbClr val="1C1C1C"/>
                </a:solidFill>
                <a:latin typeface="Paytone One"/>
                <a:ea typeface="Paytone One"/>
                <a:cs typeface="Paytone One"/>
                <a:sym typeface="Paytone One"/>
              </a:rPr>
              <a:t>YOU!</a:t>
            </a:r>
            <a:endParaRPr dirty="0"/>
          </a:p>
        </p:txBody>
      </p:sp>
      <p:pic>
        <p:nvPicPr>
          <p:cNvPr id="465" name="Google Shape;465;p29"/>
          <p:cNvPicPr preferRelativeResize="0"/>
          <p:nvPr/>
        </p:nvPicPr>
        <p:blipFill>
          <a:blip r:embed="rId3">
            <a:alphaModFix/>
          </a:blip>
          <a:stretch>
            <a:fillRect/>
          </a:stretch>
        </p:blipFill>
        <p:spPr>
          <a:xfrm>
            <a:off x="1623975" y="1391625"/>
            <a:ext cx="5948425" cy="75084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KoHo"/>
        <a:ea typeface=""/>
        <a:cs typeface=""/>
      </a:majorFont>
      <a:minorFont>
        <a:latin typeface="KoH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971</TotalTime>
  <Words>889</Words>
  <Application>Microsoft Office PowerPoint</Application>
  <PresentationFormat>Custom</PresentationFormat>
  <Paragraphs>59</Paragraphs>
  <Slides>12</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Consolas</vt:lpstr>
      <vt:lpstr>KoHo</vt:lpstr>
      <vt:lpstr>Paytone One</vt:lpstr>
      <vt:lpstr>-apple-system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Spencer Lugalia</dc:creator>
  <cp:lastModifiedBy>Wambui Munene</cp:lastModifiedBy>
  <cp:revision>28</cp:revision>
  <dcterms:modified xsi:type="dcterms:W3CDTF">2025-03-25T11:21:45Z</dcterms:modified>
</cp:coreProperties>
</file>